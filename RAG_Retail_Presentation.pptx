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28090"/>
          </a:solidFill>
          <a:ln w="12700">
            <a:solidFill>
              <a:srgbClr val="028090"/>
            </a:solidFill>
            <a:prstDash val="solid"/>
          </a:ln>
        </p:spPr>
      </p:sp>
      <p:sp>
        <p:nvSpPr>
          <p:cNvPr id="3" name="Shape 1"/>
          <p:cNvSpPr/>
          <p:nvPr/>
        </p:nvSpPr>
        <p:spPr>
          <a:xfrm>
            <a:off x="0" y="4480560"/>
            <a:ext cx="9144000" cy="662940"/>
          </a:xfrm>
          <a:prstGeom prst="rect">
            <a:avLst/>
          </a:prstGeom>
          <a:solidFill>
            <a:srgbClr val="14213D"/>
          </a:solidFill>
          <a:ln w="12700">
            <a:solidFill>
              <a:srgbClr val="14213D"/>
            </a:solidFill>
            <a:prstDash val="solid"/>
          </a:ln>
        </p:spPr>
      </p:sp>
      <p:sp>
        <p:nvSpPr>
          <p:cNvPr id="4" name="Text 2"/>
          <p:cNvSpPr/>
          <p:nvPr/>
        </p:nvSpPr>
        <p:spPr>
          <a:xfrm>
            <a:off x="640080" y="640080"/>
            <a:ext cx="5943600" cy="914400"/>
          </a:xfrm>
          <a:prstGeom prst="rect">
            <a:avLst/>
          </a:prstGeom>
          <a:noFill/>
          <a:ln/>
        </p:spPr>
        <p:txBody>
          <a:bodyPr wrap="square" rtlCol="0" anchor="ctr"/>
          <a:lstStyle/>
          <a:p>
            <a:pPr algn="l" indent="0" marL="0">
              <a:buNone/>
            </a:pPr>
            <a:r>
              <a:rPr lang="en-US" sz="3400" b="1" dirty="0">
                <a:solidFill>
                  <a:srgbClr val="FFFFFF"/>
                </a:solidFill>
                <a:latin typeface="Trebuchet MS" pitchFamily="34" charset="0"/>
                <a:ea typeface="Trebuchet MS" pitchFamily="34" charset="-122"/>
                <a:cs typeface="Trebuchet MS" pitchFamily="34" charset="-120"/>
              </a:rPr>
              <a:t>AI-Powered Retail Assistant</a:t>
            </a:r>
            <a:endParaRPr lang="en-US" sz="3400" dirty="0"/>
          </a:p>
        </p:txBody>
      </p:sp>
      <p:sp>
        <p:nvSpPr>
          <p:cNvPr id="5" name="Text 3"/>
          <p:cNvSpPr/>
          <p:nvPr/>
        </p:nvSpPr>
        <p:spPr>
          <a:xfrm>
            <a:off x="640080" y="1508760"/>
            <a:ext cx="5943600" cy="502920"/>
          </a:xfrm>
          <a:prstGeom prst="rect">
            <a:avLst/>
          </a:prstGeom>
          <a:noFill/>
          <a:ln/>
        </p:spPr>
        <p:txBody>
          <a:bodyPr wrap="square" rtlCol="0" anchor="ctr"/>
          <a:lstStyle/>
          <a:p>
            <a:pPr algn="l" indent="0" marL="0">
              <a:buNone/>
            </a:pPr>
            <a:r>
              <a:rPr lang="en-US" sz="2200" dirty="0">
                <a:solidFill>
                  <a:srgbClr val="CADCFC"/>
                </a:solidFill>
                <a:latin typeface="Calibri" pitchFamily="34" charset="0"/>
                <a:ea typeface="Calibri" pitchFamily="34" charset="-122"/>
                <a:cs typeface="Calibri" pitchFamily="34" charset="-120"/>
              </a:rPr>
              <a:t>RAG &amp; SQL Agentic Query System</a:t>
            </a:r>
            <a:endParaRPr lang="en-US" sz="2200" dirty="0"/>
          </a:p>
        </p:txBody>
      </p:sp>
      <p:sp>
        <p:nvSpPr>
          <p:cNvPr id="6" name="Shape 4"/>
          <p:cNvSpPr/>
          <p:nvPr/>
        </p:nvSpPr>
        <p:spPr>
          <a:xfrm>
            <a:off x="640080" y="2148840"/>
            <a:ext cx="5029200" cy="45720"/>
          </a:xfrm>
          <a:prstGeom prst="rect">
            <a:avLst/>
          </a:prstGeom>
          <a:solidFill>
            <a:srgbClr val="028090"/>
          </a:solidFill>
          <a:ln w="12700">
            <a:solidFill>
              <a:srgbClr val="028090"/>
            </a:solidFill>
            <a:prstDash val="solid"/>
          </a:ln>
        </p:spPr>
      </p:sp>
      <p:sp>
        <p:nvSpPr>
          <p:cNvPr id="7" name="Text 5"/>
          <p:cNvSpPr/>
          <p:nvPr/>
        </p:nvSpPr>
        <p:spPr>
          <a:xfrm>
            <a:off x="640080" y="2331720"/>
            <a:ext cx="5943600" cy="411480"/>
          </a:xfrm>
          <a:prstGeom prst="rect">
            <a:avLst/>
          </a:prstGeom>
          <a:noFill/>
          <a:ln/>
        </p:spPr>
        <p:txBody>
          <a:bodyPr wrap="square" rtlCol="0" anchor="ctr"/>
          <a:lstStyle/>
          <a:p>
            <a:pPr algn="l" indent="0" marL="0">
              <a:buNone/>
            </a:pPr>
            <a:r>
              <a:rPr lang="en-US" sz="1300" i="1" dirty="0">
                <a:solidFill>
                  <a:srgbClr val="CADCFC"/>
                </a:solidFill>
                <a:latin typeface="Calibri" pitchFamily="34" charset="0"/>
                <a:ea typeface="Calibri" pitchFamily="34" charset="-122"/>
                <a:cs typeface="Calibri" pitchFamily="34" charset="-120"/>
              </a:rPr>
              <a:t>Retrieval-Augmented Generation · ChromaDB · Cosine Similarity · LangChain</a:t>
            </a:r>
            <a:endParaRPr lang="en-US" sz="1300" dirty="0"/>
          </a:p>
        </p:txBody>
      </p:sp>
      <p:sp>
        <p:nvSpPr>
          <p:cNvPr id="8" name="Text 6"/>
          <p:cNvSpPr/>
          <p:nvPr/>
        </p:nvSpPr>
        <p:spPr>
          <a:xfrm>
            <a:off x="640080" y="4526280"/>
            <a:ext cx="5486400" cy="320040"/>
          </a:xfrm>
          <a:prstGeom prst="rect">
            <a:avLst/>
          </a:prstGeom>
          <a:noFill/>
          <a:ln/>
        </p:spPr>
        <p:txBody>
          <a:bodyPr wrap="square" rtlCol="0" anchor="ctr"/>
          <a:lstStyle/>
          <a:p>
            <a:pPr algn="l" indent="0" marL="0">
              <a:buNone/>
            </a:pPr>
            <a:r>
              <a:rPr lang="en-US" sz="1200" dirty="0">
                <a:solidFill>
                  <a:srgbClr val="CADCFC"/>
                </a:solidFill>
                <a:latin typeface="Calibri" pitchFamily="34" charset="0"/>
                <a:ea typeface="Calibri" pitchFamily="34" charset="-122"/>
                <a:cs typeface="Calibri" pitchFamily="34" charset="-120"/>
              </a:rPr>
              <a:t>Capgemini Internship Project</a:t>
            </a:r>
            <a:endParaRPr lang="en-US" sz="1200" dirty="0"/>
          </a:p>
        </p:txBody>
      </p:sp>
      <p:sp>
        <p:nvSpPr>
          <p:cNvPr id="9" name="Shape 7"/>
          <p:cNvSpPr/>
          <p:nvPr/>
        </p:nvSpPr>
        <p:spPr>
          <a:xfrm>
            <a:off x="6766560" y="548640"/>
            <a:ext cx="2011680" cy="2011680"/>
          </a:xfrm>
          <a:prstGeom prst="ellipse">
            <a:avLst/>
          </a:prstGeom>
          <a:solidFill>
            <a:srgbClr val="028090">
              <a:alpha val="20000"/>
            </a:srgbClr>
          </a:solidFill>
          <a:ln w="25400">
            <a:solidFill>
              <a:srgbClr val="028090"/>
            </a:solidFill>
            <a:prstDash val="solid"/>
          </a:ln>
        </p:spPr>
      </p:sp>
      <p:sp>
        <p:nvSpPr>
          <p:cNvPr id="10" name="Shape 8"/>
          <p:cNvSpPr/>
          <p:nvPr/>
        </p:nvSpPr>
        <p:spPr>
          <a:xfrm>
            <a:off x="7132320" y="914400"/>
            <a:ext cx="1280160" cy="1280160"/>
          </a:xfrm>
          <a:prstGeom prst="ellipse">
            <a:avLst/>
          </a:prstGeom>
          <a:solidFill>
            <a:srgbClr val="028090">
              <a:alpha val="50000"/>
            </a:srgbClr>
          </a:solidFill>
          <a:ln w="12700">
            <a:solidFill>
              <a:srgbClr val="028090"/>
            </a:solidFill>
            <a:prstDash val="solid"/>
          </a:ln>
        </p:spPr>
      </p:sp>
      <p:sp>
        <p:nvSpPr>
          <p:cNvPr id="11" name="Text 9"/>
          <p:cNvSpPr/>
          <p:nvPr/>
        </p:nvSpPr>
        <p:spPr>
          <a:xfrm>
            <a:off x="7040880" y="1097280"/>
            <a:ext cx="1463040" cy="731520"/>
          </a:xfrm>
          <a:prstGeom prst="rect">
            <a:avLst/>
          </a:prstGeom>
          <a:noFill/>
          <a:ln/>
        </p:spPr>
        <p:txBody>
          <a:bodyPr wrap="square" rtlCol="0" anchor="ct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RAG</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sp>
      <p:sp>
        <p:nvSpPr>
          <p:cNvPr id="3" name="Shape 1"/>
          <p:cNvSpPr/>
          <p:nvPr/>
        </p:nvSpPr>
        <p:spPr>
          <a:xfrm>
            <a:off x="0" y="1005840"/>
            <a:ext cx="9144000" cy="64008"/>
          </a:xfrm>
          <a:prstGeom prst="rect">
            <a:avLst/>
          </a:prstGeom>
          <a:solidFill>
            <a:srgbClr val="028090"/>
          </a:solidFill>
          <a:ln w="12700">
            <a:solidFill>
              <a:srgbClr val="028090"/>
            </a:solidFill>
            <a:prstDash val="solid"/>
          </a:ln>
        </p:spPr>
      </p:sp>
      <p:sp>
        <p:nvSpPr>
          <p:cNvPr id="4" name="Text 2"/>
          <p:cNvSpPr/>
          <p:nvPr/>
        </p:nvSpPr>
        <p:spPr>
          <a:xfrm>
            <a:off x="457200" y="137160"/>
            <a:ext cx="8229600" cy="731520"/>
          </a:xfrm>
          <a:prstGeom prst="rect">
            <a:avLst/>
          </a:prstGeom>
          <a:noFill/>
          <a:ln/>
        </p:spPr>
        <p:txBody>
          <a:bodyPr wrap="square" rtlCol="0" anchor="ctr"/>
          <a:lstStyle/>
          <a:p>
            <a:pPr algn="l" indent="0" marL="0">
              <a:buNone/>
            </a:pPr>
            <a:r>
              <a:rPr lang="en-US" sz="3000" b="1" dirty="0">
                <a:solidFill>
                  <a:srgbClr val="FFFFFF"/>
                </a:solidFill>
                <a:latin typeface="Trebuchet MS" pitchFamily="34" charset="0"/>
                <a:ea typeface="Trebuchet MS" pitchFamily="34" charset="-122"/>
                <a:cs typeface="Trebuchet MS" pitchFamily="34" charset="-120"/>
              </a:rPr>
              <a:t>Overview</a:t>
            </a:r>
            <a:endParaRPr lang="en-US" sz="3000" dirty="0"/>
          </a:p>
        </p:txBody>
      </p:sp>
      <p:sp>
        <p:nvSpPr>
          <p:cNvPr id="5" name="Shape 3"/>
          <p:cNvSpPr/>
          <p:nvPr/>
        </p:nvSpPr>
        <p:spPr>
          <a:xfrm>
            <a:off x="320040" y="1325880"/>
            <a:ext cx="2651760" cy="3383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20040" y="1325880"/>
            <a:ext cx="2651760" cy="73152"/>
          </a:xfrm>
          <a:prstGeom prst="rect">
            <a:avLst/>
          </a:prstGeom>
          <a:solidFill>
            <a:srgbClr val="028090"/>
          </a:solidFill>
          <a:ln w="12700">
            <a:solidFill>
              <a:srgbClr val="028090"/>
            </a:solidFill>
            <a:prstDash val="solid"/>
          </a:ln>
        </p:spPr>
      </p:sp>
      <p:sp>
        <p:nvSpPr>
          <p:cNvPr id="7" name="Text 5"/>
          <p:cNvSpPr/>
          <p:nvPr/>
        </p:nvSpPr>
        <p:spPr>
          <a:xfrm>
            <a:off x="320040" y="1463040"/>
            <a:ext cx="2651760" cy="59436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8" name="Text 6"/>
          <p:cNvSpPr/>
          <p:nvPr/>
        </p:nvSpPr>
        <p:spPr>
          <a:xfrm>
            <a:off x="457200" y="2103120"/>
            <a:ext cx="2377440" cy="411480"/>
          </a:xfrm>
          <a:prstGeom prst="rect">
            <a:avLst/>
          </a:prstGeom>
          <a:noFill/>
          <a:ln/>
        </p:spPr>
        <p:txBody>
          <a:bodyPr wrap="square" rtlCol="0" anchor="ctr"/>
          <a:lstStyle/>
          <a:p>
            <a:pPr algn="ctr" indent="0" marL="0">
              <a:buNone/>
            </a:pPr>
            <a:r>
              <a:rPr lang="en-US" sz="1600" b="1" dirty="0">
                <a:solidFill>
                  <a:srgbClr val="1E2761"/>
                </a:solidFill>
                <a:latin typeface="Trebuchet MS" pitchFamily="34" charset="0"/>
                <a:ea typeface="Trebuchet MS" pitchFamily="34" charset="-122"/>
                <a:cs typeface="Trebuchet MS" pitchFamily="34" charset="-120"/>
              </a:rPr>
              <a:t>Problem</a:t>
            </a:r>
            <a:endParaRPr lang="en-US" sz="1600" dirty="0"/>
          </a:p>
        </p:txBody>
      </p:sp>
      <p:sp>
        <p:nvSpPr>
          <p:cNvPr id="9" name="Text 7"/>
          <p:cNvSpPr/>
          <p:nvPr/>
        </p:nvSpPr>
        <p:spPr>
          <a:xfrm>
            <a:off x="457200" y="2578608"/>
            <a:ext cx="2377440" cy="2057400"/>
          </a:xfrm>
          <a:prstGeom prst="rect">
            <a:avLst/>
          </a:prstGeom>
          <a:noFill/>
          <a:ln/>
        </p:spPr>
        <p:txBody>
          <a:bodyPr wrap="square" rtlCol="0" anchor="t"/>
          <a:lstStyle/>
          <a:p>
            <a:pPr algn="l" indent="0" marL="0">
              <a:buNone/>
            </a:pPr>
            <a:r>
              <a:rPr lang="en-US" sz="1200" dirty="0">
                <a:solidFill>
                  <a:srgbClr val="334155"/>
                </a:solidFill>
                <a:latin typeface="Calibri" pitchFamily="34" charset="0"/>
                <a:ea typeface="Calibri" pitchFamily="34" charset="-122"/>
                <a:cs typeface="Calibri" pitchFamily="34" charset="-120"/>
              </a:rPr>
              <a:t>Retail enterprises drown in unstructured data. Legacy keyword systems fail at semantic understanding, causing delays and compliance risks.</a:t>
            </a:r>
            <a:endParaRPr lang="en-US" sz="1200" dirty="0"/>
          </a:p>
        </p:txBody>
      </p:sp>
      <p:sp>
        <p:nvSpPr>
          <p:cNvPr id="10" name="Shape 8"/>
          <p:cNvSpPr/>
          <p:nvPr/>
        </p:nvSpPr>
        <p:spPr>
          <a:xfrm>
            <a:off x="3154680" y="1325880"/>
            <a:ext cx="2651760" cy="3383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154680" y="1325880"/>
            <a:ext cx="2651760" cy="73152"/>
          </a:xfrm>
          <a:prstGeom prst="rect">
            <a:avLst/>
          </a:prstGeom>
          <a:solidFill>
            <a:srgbClr val="028090"/>
          </a:solidFill>
          <a:ln w="12700">
            <a:solidFill>
              <a:srgbClr val="028090"/>
            </a:solidFill>
            <a:prstDash val="solid"/>
          </a:ln>
        </p:spPr>
      </p:sp>
      <p:sp>
        <p:nvSpPr>
          <p:cNvPr id="12" name="Text 10"/>
          <p:cNvSpPr/>
          <p:nvPr/>
        </p:nvSpPr>
        <p:spPr>
          <a:xfrm>
            <a:off x="3154680" y="1463040"/>
            <a:ext cx="2651760" cy="59436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3" name="Text 11"/>
          <p:cNvSpPr/>
          <p:nvPr/>
        </p:nvSpPr>
        <p:spPr>
          <a:xfrm>
            <a:off x="3291840" y="2103120"/>
            <a:ext cx="2377440" cy="411480"/>
          </a:xfrm>
          <a:prstGeom prst="rect">
            <a:avLst/>
          </a:prstGeom>
          <a:noFill/>
          <a:ln/>
        </p:spPr>
        <p:txBody>
          <a:bodyPr wrap="square" rtlCol="0" anchor="ctr"/>
          <a:lstStyle/>
          <a:p>
            <a:pPr algn="ctr" indent="0" marL="0">
              <a:buNone/>
            </a:pPr>
            <a:r>
              <a:rPr lang="en-US" sz="1600" b="1" dirty="0">
                <a:solidFill>
                  <a:srgbClr val="1E2761"/>
                </a:solidFill>
                <a:latin typeface="Trebuchet MS" pitchFamily="34" charset="0"/>
                <a:ea typeface="Trebuchet MS" pitchFamily="34" charset="-122"/>
                <a:cs typeface="Trebuchet MS" pitchFamily="34" charset="-120"/>
              </a:rPr>
              <a:t>Solution</a:t>
            </a:r>
            <a:endParaRPr lang="en-US" sz="1600" dirty="0"/>
          </a:p>
        </p:txBody>
      </p:sp>
      <p:sp>
        <p:nvSpPr>
          <p:cNvPr id="14" name="Text 12"/>
          <p:cNvSpPr/>
          <p:nvPr/>
        </p:nvSpPr>
        <p:spPr>
          <a:xfrm>
            <a:off x="3291840" y="2578608"/>
            <a:ext cx="2377440" cy="2057400"/>
          </a:xfrm>
          <a:prstGeom prst="rect">
            <a:avLst/>
          </a:prstGeom>
          <a:noFill/>
          <a:ln/>
        </p:spPr>
        <p:txBody>
          <a:bodyPr wrap="square" rtlCol="0" anchor="t"/>
          <a:lstStyle/>
          <a:p>
            <a:pPr algn="l" indent="0" marL="0">
              <a:buNone/>
            </a:pPr>
            <a:r>
              <a:rPr lang="en-US" sz="1200" dirty="0">
                <a:solidFill>
                  <a:srgbClr val="334155"/>
                </a:solidFill>
                <a:latin typeface="Calibri" pitchFamily="34" charset="0"/>
                <a:ea typeface="Calibri" pitchFamily="34" charset="-122"/>
                <a:cs typeface="Calibri" pitchFamily="34" charset="-120"/>
              </a:rPr>
              <a:t>A RAG-based AI assistant grounded on a local ChromaDB vector store, built at Capgemini to serve enterprise retail operators.</a:t>
            </a:r>
            <a:endParaRPr lang="en-US" sz="1200" dirty="0"/>
          </a:p>
        </p:txBody>
      </p:sp>
      <p:sp>
        <p:nvSpPr>
          <p:cNvPr id="15" name="Shape 13"/>
          <p:cNvSpPr/>
          <p:nvPr/>
        </p:nvSpPr>
        <p:spPr>
          <a:xfrm>
            <a:off x="5989320" y="1325880"/>
            <a:ext cx="2651760" cy="3383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5989320" y="1325880"/>
            <a:ext cx="2651760" cy="73152"/>
          </a:xfrm>
          <a:prstGeom prst="rect">
            <a:avLst/>
          </a:prstGeom>
          <a:solidFill>
            <a:srgbClr val="028090"/>
          </a:solidFill>
          <a:ln w="12700">
            <a:solidFill>
              <a:srgbClr val="028090"/>
            </a:solidFill>
            <a:prstDash val="solid"/>
          </a:ln>
        </p:spPr>
      </p:sp>
      <p:sp>
        <p:nvSpPr>
          <p:cNvPr id="17" name="Text 15"/>
          <p:cNvSpPr/>
          <p:nvPr/>
        </p:nvSpPr>
        <p:spPr>
          <a:xfrm>
            <a:off x="5989320" y="1463040"/>
            <a:ext cx="2651760" cy="59436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6126480" y="2103120"/>
            <a:ext cx="2377440" cy="411480"/>
          </a:xfrm>
          <a:prstGeom prst="rect">
            <a:avLst/>
          </a:prstGeom>
          <a:noFill/>
          <a:ln/>
        </p:spPr>
        <p:txBody>
          <a:bodyPr wrap="square" rtlCol="0" anchor="ctr"/>
          <a:lstStyle/>
          <a:p>
            <a:pPr algn="ctr" indent="0" marL="0">
              <a:buNone/>
            </a:pPr>
            <a:r>
              <a:rPr lang="en-US" sz="1600" b="1" dirty="0">
                <a:solidFill>
                  <a:srgbClr val="1E2761"/>
                </a:solidFill>
                <a:latin typeface="Trebuchet MS" pitchFamily="34" charset="0"/>
                <a:ea typeface="Trebuchet MS" pitchFamily="34" charset="-122"/>
                <a:cs typeface="Trebuchet MS" pitchFamily="34" charset="-120"/>
              </a:rPr>
              <a:t>Outcome</a:t>
            </a:r>
            <a:endParaRPr lang="en-US" sz="1600" dirty="0"/>
          </a:p>
        </p:txBody>
      </p:sp>
      <p:sp>
        <p:nvSpPr>
          <p:cNvPr id="19" name="Text 17"/>
          <p:cNvSpPr/>
          <p:nvPr/>
        </p:nvSpPr>
        <p:spPr>
          <a:xfrm>
            <a:off x="6126480" y="2578608"/>
            <a:ext cx="2377440" cy="2057400"/>
          </a:xfrm>
          <a:prstGeom prst="rect">
            <a:avLst/>
          </a:prstGeom>
          <a:noFill/>
          <a:ln/>
        </p:spPr>
        <p:txBody>
          <a:bodyPr wrap="square" rtlCol="0" anchor="t"/>
          <a:lstStyle/>
          <a:p>
            <a:pPr algn="l" indent="0" marL="0">
              <a:buNone/>
            </a:pPr>
            <a:r>
              <a:rPr lang="en-US" sz="1200" dirty="0">
                <a:solidFill>
                  <a:srgbClr val="334155"/>
                </a:solidFill>
                <a:latin typeface="Calibri" pitchFamily="34" charset="0"/>
                <a:ea typeface="Calibri" pitchFamily="34" charset="-122"/>
                <a:cs typeface="Calibri" pitchFamily="34" charset="-120"/>
              </a:rPr>
              <a:t>Eliminated LLM hallucinations, reduced policy-search latency to &lt;1.5 s, and enabled natural language access to proprietary documents.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sp>
      <p:sp>
        <p:nvSpPr>
          <p:cNvPr id="3" name="Shape 1"/>
          <p:cNvSpPr/>
          <p:nvPr/>
        </p:nvSpPr>
        <p:spPr>
          <a:xfrm>
            <a:off x="0" y="1005840"/>
            <a:ext cx="9144000" cy="64008"/>
          </a:xfrm>
          <a:prstGeom prst="rect">
            <a:avLst/>
          </a:prstGeom>
          <a:solidFill>
            <a:srgbClr val="028090"/>
          </a:solidFill>
          <a:ln w="12700">
            <a:solidFill>
              <a:srgbClr val="028090"/>
            </a:solidFill>
            <a:prstDash val="solid"/>
          </a:ln>
        </p:spPr>
      </p:sp>
      <p:sp>
        <p:nvSpPr>
          <p:cNvPr id="4" name="Text 2"/>
          <p:cNvSpPr/>
          <p:nvPr/>
        </p:nvSpPr>
        <p:spPr>
          <a:xfrm>
            <a:off x="457200" y="137160"/>
            <a:ext cx="8229600" cy="73152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Problem Identification</a:t>
            </a:r>
            <a:endParaRPr lang="en-US" sz="3000" dirty="0"/>
          </a:p>
        </p:txBody>
      </p:sp>
      <p:sp>
        <p:nvSpPr>
          <p:cNvPr id="5" name="Shape 3"/>
          <p:cNvSpPr/>
          <p:nvPr/>
        </p:nvSpPr>
        <p:spPr>
          <a:xfrm>
            <a:off x="365760" y="1280160"/>
            <a:ext cx="411480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1280160"/>
            <a:ext cx="594360" cy="1600200"/>
          </a:xfrm>
          <a:prstGeom prst="rect">
            <a:avLst/>
          </a:prstGeom>
          <a:solidFill>
            <a:srgbClr val="1E2761"/>
          </a:solidFill>
          <a:ln w="12700">
            <a:solidFill>
              <a:srgbClr val="1E2761"/>
            </a:solidFill>
            <a:prstDash val="solid"/>
          </a:ln>
        </p:spPr>
      </p:sp>
      <p:sp>
        <p:nvSpPr>
          <p:cNvPr id="7" name="Text 5"/>
          <p:cNvSpPr/>
          <p:nvPr/>
        </p:nvSpPr>
        <p:spPr>
          <a:xfrm>
            <a:off x="365760" y="1737360"/>
            <a:ext cx="594360" cy="640080"/>
          </a:xfrm>
          <a:prstGeom prst="rect">
            <a:avLst/>
          </a:prstGeom>
          <a:noFill/>
          <a:ln/>
        </p:spPr>
        <p:txBody>
          <a:bodyPr wrap="square" rtlCol="0" anchor="ctr"/>
          <a:lstStyle/>
          <a:p>
            <a:pPr algn="ctr" indent="0" marL="0">
              <a:buNone/>
            </a:pPr>
            <a:r>
              <a:rPr lang="en-US" sz="1800" b="1" dirty="0">
                <a:solidFill>
                  <a:srgbClr val="028090"/>
                </a:solidFill>
                <a:latin typeface="Trebuchet MS" pitchFamily="34" charset="0"/>
                <a:ea typeface="Trebuchet MS" pitchFamily="34" charset="-122"/>
                <a:cs typeface="Trebuchet MS" pitchFamily="34" charset="-120"/>
              </a:rPr>
              <a:t>01</a:t>
            </a:r>
            <a:endParaRPr lang="en-US" sz="1800" dirty="0"/>
          </a:p>
        </p:txBody>
      </p:sp>
      <p:sp>
        <p:nvSpPr>
          <p:cNvPr id="8" name="Text 6"/>
          <p:cNvSpPr/>
          <p:nvPr/>
        </p:nvSpPr>
        <p:spPr>
          <a:xfrm>
            <a:off x="1051560" y="1371600"/>
            <a:ext cx="3291840" cy="411480"/>
          </a:xfrm>
          <a:prstGeom prst="rect">
            <a:avLst/>
          </a:prstGeom>
          <a:noFill/>
          <a:ln/>
        </p:spPr>
        <p:txBody>
          <a:bodyPr wrap="square" rtlCol="0" anchor="ctr"/>
          <a:lstStyle/>
          <a:p>
            <a:pPr indent="0" marL="0">
              <a:buNone/>
            </a:pPr>
            <a:r>
              <a:rPr lang="en-US" sz="1400" b="1" dirty="0">
                <a:solidFill>
                  <a:srgbClr val="1E2761"/>
                </a:solidFill>
                <a:latin typeface="Trebuchet MS" pitchFamily="34" charset="0"/>
                <a:ea typeface="Trebuchet MS" pitchFamily="34" charset="-122"/>
                <a:cs typeface="Trebuchet MS" pitchFamily="34" charset="-120"/>
              </a:rPr>
              <a:t>Semantic Blindness</a:t>
            </a:r>
            <a:endParaRPr lang="en-US" sz="1400" dirty="0"/>
          </a:p>
        </p:txBody>
      </p:sp>
      <p:sp>
        <p:nvSpPr>
          <p:cNvPr id="9" name="Text 7"/>
          <p:cNvSpPr/>
          <p:nvPr/>
        </p:nvSpPr>
        <p:spPr>
          <a:xfrm>
            <a:off x="1051560" y="1783080"/>
            <a:ext cx="3291840" cy="100584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Legacy TF-IDF / Exact-Match systems cannot process natural language, synonyms, or contextual intent.</a:t>
            </a:r>
            <a:endParaRPr lang="en-US" sz="1150" dirty="0"/>
          </a:p>
        </p:txBody>
      </p:sp>
      <p:sp>
        <p:nvSpPr>
          <p:cNvPr id="10" name="Shape 8"/>
          <p:cNvSpPr/>
          <p:nvPr/>
        </p:nvSpPr>
        <p:spPr>
          <a:xfrm>
            <a:off x="4846320" y="1280160"/>
            <a:ext cx="411480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846320" y="1280160"/>
            <a:ext cx="594360" cy="1600200"/>
          </a:xfrm>
          <a:prstGeom prst="rect">
            <a:avLst/>
          </a:prstGeom>
          <a:solidFill>
            <a:srgbClr val="1E2761"/>
          </a:solidFill>
          <a:ln w="12700">
            <a:solidFill>
              <a:srgbClr val="1E2761"/>
            </a:solidFill>
            <a:prstDash val="solid"/>
          </a:ln>
        </p:spPr>
      </p:sp>
      <p:sp>
        <p:nvSpPr>
          <p:cNvPr id="12" name="Text 10"/>
          <p:cNvSpPr/>
          <p:nvPr/>
        </p:nvSpPr>
        <p:spPr>
          <a:xfrm>
            <a:off x="4846320" y="1737360"/>
            <a:ext cx="594360" cy="640080"/>
          </a:xfrm>
          <a:prstGeom prst="rect">
            <a:avLst/>
          </a:prstGeom>
          <a:noFill/>
          <a:ln/>
        </p:spPr>
        <p:txBody>
          <a:bodyPr wrap="square" rtlCol="0" anchor="ctr"/>
          <a:lstStyle/>
          <a:p>
            <a:pPr algn="ctr" indent="0" marL="0">
              <a:buNone/>
            </a:pPr>
            <a:r>
              <a:rPr lang="en-US" sz="1800" b="1" dirty="0">
                <a:solidFill>
                  <a:srgbClr val="028090"/>
                </a:solidFill>
                <a:latin typeface="Trebuchet MS" pitchFamily="34" charset="0"/>
                <a:ea typeface="Trebuchet MS" pitchFamily="34" charset="-122"/>
                <a:cs typeface="Trebuchet MS" pitchFamily="34" charset="-120"/>
              </a:rPr>
              <a:t>02</a:t>
            </a:r>
            <a:endParaRPr lang="en-US" sz="1800" dirty="0"/>
          </a:p>
        </p:txBody>
      </p:sp>
      <p:sp>
        <p:nvSpPr>
          <p:cNvPr id="13" name="Text 11"/>
          <p:cNvSpPr/>
          <p:nvPr/>
        </p:nvSpPr>
        <p:spPr>
          <a:xfrm>
            <a:off x="5532120" y="1371600"/>
            <a:ext cx="3291840" cy="411480"/>
          </a:xfrm>
          <a:prstGeom prst="rect">
            <a:avLst/>
          </a:prstGeom>
          <a:noFill/>
          <a:ln/>
        </p:spPr>
        <p:txBody>
          <a:bodyPr wrap="square" rtlCol="0" anchor="ctr"/>
          <a:lstStyle/>
          <a:p>
            <a:pPr indent="0" marL="0">
              <a:buNone/>
            </a:pPr>
            <a:r>
              <a:rPr lang="en-US" sz="1400" b="1" dirty="0">
                <a:solidFill>
                  <a:srgbClr val="1E2761"/>
                </a:solidFill>
                <a:latin typeface="Trebuchet MS" pitchFamily="34" charset="0"/>
                <a:ea typeface="Trebuchet MS" pitchFamily="34" charset="-122"/>
                <a:cs typeface="Trebuchet MS" pitchFamily="34" charset="-120"/>
              </a:rPr>
              <a:t>High Latency</a:t>
            </a:r>
            <a:endParaRPr lang="en-US" sz="1400" dirty="0"/>
          </a:p>
        </p:txBody>
      </p:sp>
      <p:sp>
        <p:nvSpPr>
          <p:cNvPr id="14" name="Text 12"/>
          <p:cNvSpPr/>
          <p:nvPr/>
        </p:nvSpPr>
        <p:spPr>
          <a:xfrm>
            <a:off x="5532120" y="1783080"/>
            <a:ext cx="3291840" cy="100584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Navigating dense PDFs manually extends search time, hurting productivity and customer service.</a:t>
            </a:r>
            <a:endParaRPr lang="en-US" sz="1150" dirty="0"/>
          </a:p>
        </p:txBody>
      </p:sp>
      <p:sp>
        <p:nvSpPr>
          <p:cNvPr id="15" name="Shape 13"/>
          <p:cNvSpPr/>
          <p:nvPr/>
        </p:nvSpPr>
        <p:spPr>
          <a:xfrm>
            <a:off x="365760" y="3108960"/>
            <a:ext cx="411480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65760" y="3108960"/>
            <a:ext cx="594360" cy="1600200"/>
          </a:xfrm>
          <a:prstGeom prst="rect">
            <a:avLst/>
          </a:prstGeom>
          <a:solidFill>
            <a:srgbClr val="1E2761"/>
          </a:solidFill>
          <a:ln w="12700">
            <a:solidFill>
              <a:srgbClr val="1E2761"/>
            </a:solidFill>
            <a:prstDash val="solid"/>
          </a:ln>
        </p:spPr>
      </p:sp>
      <p:sp>
        <p:nvSpPr>
          <p:cNvPr id="17" name="Text 15"/>
          <p:cNvSpPr/>
          <p:nvPr/>
        </p:nvSpPr>
        <p:spPr>
          <a:xfrm>
            <a:off x="365760" y="3566160"/>
            <a:ext cx="594360" cy="640080"/>
          </a:xfrm>
          <a:prstGeom prst="rect">
            <a:avLst/>
          </a:prstGeom>
          <a:noFill/>
          <a:ln/>
        </p:spPr>
        <p:txBody>
          <a:bodyPr wrap="square" rtlCol="0" anchor="ctr"/>
          <a:lstStyle/>
          <a:p>
            <a:pPr algn="ctr" indent="0" marL="0">
              <a:buNone/>
            </a:pPr>
            <a:r>
              <a:rPr lang="en-US" sz="1800" b="1" dirty="0">
                <a:solidFill>
                  <a:srgbClr val="028090"/>
                </a:solidFill>
                <a:latin typeface="Trebuchet MS" pitchFamily="34" charset="0"/>
                <a:ea typeface="Trebuchet MS" pitchFamily="34" charset="-122"/>
                <a:cs typeface="Trebuchet MS" pitchFamily="34" charset="-120"/>
              </a:rPr>
              <a:t>03</a:t>
            </a:r>
            <a:endParaRPr lang="en-US" sz="1800" dirty="0"/>
          </a:p>
        </p:txBody>
      </p:sp>
      <p:sp>
        <p:nvSpPr>
          <p:cNvPr id="18" name="Text 16"/>
          <p:cNvSpPr/>
          <p:nvPr/>
        </p:nvSpPr>
        <p:spPr>
          <a:xfrm>
            <a:off x="1051560" y="3200400"/>
            <a:ext cx="3291840" cy="411480"/>
          </a:xfrm>
          <a:prstGeom prst="rect">
            <a:avLst/>
          </a:prstGeom>
          <a:noFill/>
          <a:ln/>
        </p:spPr>
        <p:txBody>
          <a:bodyPr wrap="square" rtlCol="0" anchor="ctr"/>
          <a:lstStyle/>
          <a:p>
            <a:pPr indent="0" marL="0">
              <a:buNone/>
            </a:pPr>
            <a:r>
              <a:rPr lang="en-US" sz="1400" b="1" dirty="0">
                <a:solidFill>
                  <a:srgbClr val="1E2761"/>
                </a:solidFill>
                <a:latin typeface="Trebuchet MS" pitchFamily="34" charset="0"/>
                <a:ea typeface="Trebuchet MS" pitchFamily="34" charset="-122"/>
                <a:cs typeface="Trebuchet MS" pitchFamily="34" charset="-120"/>
              </a:rPr>
              <a:t>LLM Hallucinations</a:t>
            </a:r>
            <a:endParaRPr lang="en-US" sz="1400" dirty="0"/>
          </a:p>
        </p:txBody>
      </p:sp>
      <p:sp>
        <p:nvSpPr>
          <p:cNvPr id="19" name="Text 17"/>
          <p:cNvSpPr/>
          <p:nvPr/>
        </p:nvSpPr>
        <p:spPr>
          <a:xfrm>
            <a:off x="1051560" y="3611880"/>
            <a:ext cx="3291840" cy="100584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Standalone LLMs fabricate facts when queried about proprietary policies they were never trained on.</a:t>
            </a:r>
            <a:endParaRPr lang="en-US" sz="1150" dirty="0"/>
          </a:p>
        </p:txBody>
      </p:sp>
      <p:sp>
        <p:nvSpPr>
          <p:cNvPr id="20" name="Shape 18"/>
          <p:cNvSpPr/>
          <p:nvPr/>
        </p:nvSpPr>
        <p:spPr>
          <a:xfrm>
            <a:off x="4846320" y="3108960"/>
            <a:ext cx="4114800" cy="1600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4846320" y="3108960"/>
            <a:ext cx="594360" cy="1600200"/>
          </a:xfrm>
          <a:prstGeom prst="rect">
            <a:avLst/>
          </a:prstGeom>
          <a:solidFill>
            <a:srgbClr val="1E2761"/>
          </a:solidFill>
          <a:ln w="12700">
            <a:solidFill>
              <a:srgbClr val="1E2761"/>
            </a:solidFill>
            <a:prstDash val="solid"/>
          </a:ln>
        </p:spPr>
      </p:sp>
      <p:sp>
        <p:nvSpPr>
          <p:cNvPr id="22" name="Text 20"/>
          <p:cNvSpPr/>
          <p:nvPr/>
        </p:nvSpPr>
        <p:spPr>
          <a:xfrm>
            <a:off x="4846320" y="3566160"/>
            <a:ext cx="594360" cy="640080"/>
          </a:xfrm>
          <a:prstGeom prst="rect">
            <a:avLst/>
          </a:prstGeom>
          <a:noFill/>
          <a:ln/>
        </p:spPr>
        <p:txBody>
          <a:bodyPr wrap="square" rtlCol="0" anchor="ctr"/>
          <a:lstStyle/>
          <a:p>
            <a:pPr algn="ctr" indent="0" marL="0">
              <a:buNone/>
            </a:pPr>
            <a:r>
              <a:rPr lang="en-US" sz="1800" b="1" dirty="0">
                <a:solidFill>
                  <a:srgbClr val="028090"/>
                </a:solidFill>
                <a:latin typeface="Trebuchet MS" pitchFamily="34" charset="0"/>
                <a:ea typeface="Trebuchet MS" pitchFamily="34" charset="-122"/>
                <a:cs typeface="Trebuchet MS" pitchFamily="34" charset="-120"/>
              </a:rPr>
              <a:t>04</a:t>
            </a:r>
            <a:endParaRPr lang="en-US" sz="1800" dirty="0"/>
          </a:p>
        </p:txBody>
      </p:sp>
      <p:sp>
        <p:nvSpPr>
          <p:cNvPr id="23" name="Text 21"/>
          <p:cNvSpPr/>
          <p:nvPr/>
        </p:nvSpPr>
        <p:spPr>
          <a:xfrm>
            <a:off x="5532120" y="3200400"/>
            <a:ext cx="3291840" cy="411480"/>
          </a:xfrm>
          <a:prstGeom prst="rect">
            <a:avLst/>
          </a:prstGeom>
          <a:noFill/>
          <a:ln/>
        </p:spPr>
        <p:txBody>
          <a:bodyPr wrap="square" rtlCol="0" anchor="ctr"/>
          <a:lstStyle/>
          <a:p>
            <a:pPr indent="0" marL="0">
              <a:buNone/>
            </a:pPr>
            <a:r>
              <a:rPr lang="en-US" sz="1400" b="1" dirty="0">
                <a:solidFill>
                  <a:srgbClr val="1E2761"/>
                </a:solidFill>
                <a:latin typeface="Trebuchet MS" pitchFamily="34" charset="0"/>
                <a:ea typeface="Trebuchet MS" pitchFamily="34" charset="-122"/>
                <a:cs typeface="Trebuchet MS" pitchFamily="34" charset="-120"/>
              </a:rPr>
              <a:t>Data Privacy</a:t>
            </a:r>
            <a:endParaRPr lang="en-US" sz="1400" dirty="0"/>
          </a:p>
        </p:txBody>
      </p:sp>
      <p:sp>
        <p:nvSpPr>
          <p:cNvPr id="24" name="Text 22"/>
          <p:cNvSpPr/>
          <p:nvPr/>
        </p:nvSpPr>
        <p:spPr>
          <a:xfrm>
            <a:off x="5532120" y="3611880"/>
            <a:ext cx="3291840" cy="1005840"/>
          </a:xfrm>
          <a:prstGeom prst="rect">
            <a:avLst/>
          </a:prstGeom>
          <a:noFill/>
          <a:ln/>
        </p:spPr>
        <p:txBody>
          <a:bodyPr wrap="square" rtlCol="0" anchor="ctr"/>
          <a:lstStyle/>
          <a:p>
            <a:pPr indent="0" marL="0">
              <a:buNone/>
            </a:pPr>
            <a:r>
              <a:rPr lang="en-US" sz="1150" dirty="0">
                <a:solidFill>
                  <a:srgbClr val="334155"/>
                </a:solidFill>
                <a:latin typeface="Calibri" pitchFamily="34" charset="0"/>
                <a:ea typeface="Calibri" pitchFamily="34" charset="-122"/>
                <a:cs typeface="Calibri" pitchFamily="34" charset="-120"/>
              </a:rPr>
              <a:t>Sending enterprise policies to public API endpoints risks data leakage — a local architecture is mandatory.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w="12700">
            <a:solidFill>
              <a:srgbClr val="028090"/>
            </a:solidFill>
            <a:prstDash val="solid"/>
          </a:ln>
        </p:spPr>
      </p:sp>
      <p:sp>
        <p:nvSpPr>
          <p:cNvPr id="3" name="Text 1"/>
          <p:cNvSpPr/>
          <p:nvPr/>
        </p:nvSpPr>
        <p:spPr>
          <a:xfrm>
            <a:off x="457200" y="137160"/>
            <a:ext cx="8229600" cy="73152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System Architecture</a:t>
            </a:r>
            <a:endParaRPr lang="en-US" sz="3000" dirty="0"/>
          </a:p>
        </p:txBody>
      </p:sp>
      <p:sp>
        <p:nvSpPr>
          <p:cNvPr id="4" name="Shape 2"/>
          <p:cNvSpPr/>
          <p:nvPr/>
        </p:nvSpPr>
        <p:spPr>
          <a:xfrm>
            <a:off x="365760" y="1234440"/>
            <a:ext cx="2606040" cy="3520440"/>
          </a:xfrm>
          <a:prstGeom prst="rect">
            <a:avLst/>
          </a:prstGeom>
          <a:solidFill>
            <a:srgbClr val="0F172A"/>
          </a:solidFill>
          <a:ln w="25400">
            <a:solidFill>
              <a:srgbClr val="0D9488"/>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65760" y="1234440"/>
            <a:ext cx="2606040" cy="502920"/>
          </a:xfrm>
          <a:prstGeom prst="rect">
            <a:avLst/>
          </a:prstGeom>
          <a:solidFill>
            <a:srgbClr val="0D9488"/>
          </a:solidFill>
          <a:ln w="12700">
            <a:solidFill>
              <a:srgbClr val="0D9488"/>
            </a:solidFill>
            <a:prstDash val="solid"/>
          </a:ln>
        </p:spPr>
      </p:sp>
      <p:sp>
        <p:nvSpPr>
          <p:cNvPr id="6" name="Text 4"/>
          <p:cNvSpPr/>
          <p:nvPr/>
        </p:nvSpPr>
        <p:spPr>
          <a:xfrm>
            <a:off x="365760" y="1280160"/>
            <a:ext cx="2606040" cy="411480"/>
          </a:xfrm>
          <a:prstGeom prst="rect">
            <a:avLst/>
          </a:prstGeom>
          <a:noFill/>
          <a:ln/>
        </p:spPr>
        <p:txBody>
          <a:bodyPr wrap="square" rtlCol="0" anchor="ctr"/>
          <a:lstStyle/>
          <a:p>
            <a:pPr algn="ctr" indent="0" marL="0">
              <a:buNone/>
            </a:pPr>
            <a:r>
              <a:rPr lang="en-US" sz="1100" b="1" spc="300" kern="0" dirty="0">
                <a:solidFill>
                  <a:srgbClr val="FFFFFF"/>
                </a:solidFill>
                <a:latin typeface="Trebuchet MS" pitchFamily="34" charset="0"/>
                <a:ea typeface="Trebuchet MS" pitchFamily="34" charset="-122"/>
                <a:cs typeface="Trebuchet MS" pitchFamily="34" charset="-120"/>
              </a:rPr>
              <a:t>PHASE 1</a:t>
            </a:r>
            <a:endParaRPr lang="en-US" sz="1100" dirty="0"/>
          </a:p>
        </p:txBody>
      </p:sp>
      <p:sp>
        <p:nvSpPr>
          <p:cNvPr id="7" name="Text 5"/>
          <p:cNvSpPr/>
          <p:nvPr/>
        </p:nvSpPr>
        <p:spPr>
          <a:xfrm>
            <a:off x="457200" y="1828800"/>
            <a:ext cx="2423160" cy="45720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Data Ingestion</a:t>
            </a:r>
            <a:endParaRPr lang="en-US" sz="1500" dirty="0"/>
          </a:p>
        </p:txBody>
      </p:sp>
      <p:sp>
        <p:nvSpPr>
          <p:cNvPr id="8" name="Text 6"/>
          <p:cNvSpPr/>
          <p:nvPr/>
        </p:nvSpPr>
        <p:spPr>
          <a:xfrm>
            <a:off x="457200" y="2286000"/>
            <a:ext cx="2423160" cy="320040"/>
          </a:xfrm>
          <a:prstGeom prst="rect">
            <a:avLst/>
          </a:prstGeom>
          <a:noFill/>
          <a:ln/>
        </p:spPr>
        <p:txBody>
          <a:bodyPr wrap="square" rtlCol="0" anchor="ctr"/>
          <a:lstStyle/>
          <a:p>
            <a:pPr algn="ctr" indent="0" marL="0">
              <a:buNone/>
            </a:pPr>
            <a:r>
              <a:rPr lang="en-US" sz="1100" i="1" dirty="0">
                <a:solidFill>
                  <a:srgbClr val="0D9488"/>
                </a:solidFill>
                <a:latin typeface="Consolas" pitchFamily="34" charset="0"/>
                <a:ea typeface="Consolas" pitchFamily="34" charset="-122"/>
                <a:cs typeface="Consolas" pitchFamily="34" charset="-120"/>
              </a:rPr>
              <a:t>ingest.py</a:t>
            </a:r>
            <a:endParaRPr lang="en-US" sz="1100" dirty="0"/>
          </a:p>
        </p:txBody>
      </p:sp>
      <p:sp>
        <p:nvSpPr>
          <p:cNvPr id="9" name="Text 7"/>
          <p:cNvSpPr/>
          <p:nvPr/>
        </p:nvSpPr>
        <p:spPr>
          <a:xfrm>
            <a:off x="548640" y="2697480"/>
            <a:ext cx="228600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Parse PDFs &amp; .txt files</a:t>
            </a:r>
            <a:endParaRPr lang="en-US" sz="1150" dirty="0"/>
          </a:p>
        </p:txBody>
      </p:sp>
      <p:sp>
        <p:nvSpPr>
          <p:cNvPr id="10" name="Text 8"/>
          <p:cNvSpPr/>
          <p:nvPr/>
        </p:nvSpPr>
        <p:spPr>
          <a:xfrm>
            <a:off x="548640" y="3291840"/>
            <a:ext cx="228600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Normalize &amp; clean text</a:t>
            </a:r>
            <a:endParaRPr lang="en-US" sz="1150" dirty="0"/>
          </a:p>
        </p:txBody>
      </p:sp>
      <p:sp>
        <p:nvSpPr>
          <p:cNvPr id="11" name="Text 9"/>
          <p:cNvSpPr/>
          <p:nvPr/>
        </p:nvSpPr>
        <p:spPr>
          <a:xfrm>
            <a:off x="548640" y="3886200"/>
            <a:ext cx="228600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Recursive chunking</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(500 tokens + 50 overlap)</a:t>
            </a:r>
            <a:endParaRPr lang="en-US" sz="1150" dirty="0"/>
          </a:p>
        </p:txBody>
      </p:sp>
      <p:sp>
        <p:nvSpPr>
          <p:cNvPr id="12" name="Shape 10"/>
          <p:cNvSpPr/>
          <p:nvPr/>
        </p:nvSpPr>
        <p:spPr>
          <a:xfrm>
            <a:off x="2971800" y="2834640"/>
            <a:ext cx="228600" cy="54864"/>
          </a:xfrm>
          <a:prstGeom prst="rect">
            <a:avLst/>
          </a:prstGeom>
          <a:solidFill>
            <a:srgbClr val="028090"/>
          </a:solidFill>
          <a:ln w="12700">
            <a:solidFill>
              <a:srgbClr val="028090"/>
            </a:solidFill>
            <a:prstDash val="solid"/>
          </a:ln>
        </p:spPr>
      </p:sp>
      <p:sp>
        <p:nvSpPr>
          <p:cNvPr id="13" name="Shape 11"/>
          <p:cNvSpPr/>
          <p:nvPr/>
        </p:nvSpPr>
        <p:spPr>
          <a:xfrm>
            <a:off x="3200400" y="1234440"/>
            <a:ext cx="2606040" cy="3520440"/>
          </a:xfrm>
          <a:prstGeom prst="rect">
            <a:avLst/>
          </a:prstGeom>
          <a:solidFill>
            <a:srgbClr val="0F172A"/>
          </a:solidFill>
          <a:ln w="25400">
            <a:solidFill>
              <a:srgbClr val="0284C7"/>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3200400" y="1234440"/>
            <a:ext cx="2606040" cy="502920"/>
          </a:xfrm>
          <a:prstGeom prst="rect">
            <a:avLst/>
          </a:prstGeom>
          <a:solidFill>
            <a:srgbClr val="0284C7"/>
          </a:solidFill>
          <a:ln w="12700">
            <a:solidFill>
              <a:srgbClr val="0284C7"/>
            </a:solidFill>
            <a:prstDash val="solid"/>
          </a:ln>
        </p:spPr>
      </p:sp>
      <p:sp>
        <p:nvSpPr>
          <p:cNvPr id="15" name="Text 13"/>
          <p:cNvSpPr/>
          <p:nvPr/>
        </p:nvSpPr>
        <p:spPr>
          <a:xfrm>
            <a:off x="3200400" y="1280160"/>
            <a:ext cx="2606040" cy="411480"/>
          </a:xfrm>
          <a:prstGeom prst="rect">
            <a:avLst/>
          </a:prstGeom>
          <a:noFill/>
          <a:ln/>
        </p:spPr>
        <p:txBody>
          <a:bodyPr wrap="square" rtlCol="0" anchor="ctr"/>
          <a:lstStyle/>
          <a:p>
            <a:pPr algn="ctr" indent="0" marL="0">
              <a:buNone/>
            </a:pPr>
            <a:r>
              <a:rPr lang="en-US" sz="1100" b="1" spc="300" kern="0" dirty="0">
                <a:solidFill>
                  <a:srgbClr val="FFFFFF"/>
                </a:solidFill>
                <a:latin typeface="Trebuchet MS" pitchFamily="34" charset="0"/>
                <a:ea typeface="Trebuchet MS" pitchFamily="34" charset="-122"/>
                <a:cs typeface="Trebuchet MS" pitchFamily="34" charset="-120"/>
              </a:rPr>
              <a:t>PHASE 2</a:t>
            </a:r>
            <a:endParaRPr lang="en-US" sz="1100" dirty="0"/>
          </a:p>
        </p:txBody>
      </p:sp>
      <p:sp>
        <p:nvSpPr>
          <p:cNvPr id="16" name="Text 14"/>
          <p:cNvSpPr/>
          <p:nvPr/>
        </p:nvSpPr>
        <p:spPr>
          <a:xfrm>
            <a:off x="3291840" y="1828800"/>
            <a:ext cx="2423160" cy="45720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Vectorization</a:t>
            </a:r>
            <a:endParaRPr lang="en-US" sz="1500" dirty="0"/>
          </a:p>
        </p:txBody>
      </p:sp>
      <p:sp>
        <p:nvSpPr>
          <p:cNvPr id="17" name="Text 15"/>
          <p:cNvSpPr/>
          <p:nvPr/>
        </p:nvSpPr>
        <p:spPr>
          <a:xfrm>
            <a:off x="3291840" y="2286000"/>
            <a:ext cx="2423160" cy="320040"/>
          </a:xfrm>
          <a:prstGeom prst="rect">
            <a:avLst/>
          </a:prstGeom>
          <a:noFill/>
          <a:ln/>
        </p:spPr>
        <p:txBody>
          <a:bodyPr wrap="square" rtlCol="0" anchor="ctr"/>
          <a:lstStyle/>
          <a:p>
            <a:pPr algn="ctr" indent="0" marL="0">
              <a:buNone/>
            </a:pPr>
            <a:r>
              <a:rPr lang="en-US" sz="1100" i="1" dirty="0">
                <a:solidFill>
                  <a:srgbClr val="0284C7"/>
                </a:solidFill>
                <a:latin typeface="Consolas" pitchFamily="34" charset="0"/>
                <a:ea typeface="Consolas" pitchFamily="34" charset="-122"/>
                <a:cs typeface="Consolas" pitchFamily="34" charset="-120"/>
              </a:rPr>
              <a:t>database.py</a:t>
            </a:r>
            <a:endParaRPr lang="en-US" sz="1100" dirty="0"/>
          </a:p>
        </p:txBody>
      </p:sp>
      <p:sp>
        <p:nvSpPr>
          <p:cNvPr id="18" name="Text 16"/>
          <p:cNvSpPr/>
          <p:nvPr/>
        </p:nvSpPr>
        <p:spPr>
          <a:xfrm>
            <a:off x="3383280" y="2697480"/>
            <a:ext cx="228600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Embed via all-MiniLM-L6-v2</a:t>
            </a:r>
            <a:endParaRPr lang="en-US" sz="1150" dirty="0"/>
          </a:p>
        </p:txBody>
      </p:sp>
      <p:sp>
        <p:nvSpPr>
          <p:cNvPr id="19" name="Text 17"/>
          <p:cNvSpPr/>
          <p:nvPr/>
        </p:nvSpPr>
        <p:spPr>
          <a:xfrm>
            <a:off x="3383280" y="3291840"/>
            <a:ext cx="228600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384-dim vector space</a:t>
            </a:r>
            <a:endParaRPr lang="en-US" sz="1150" dirty="0"/>
          </a:p>
        </p:txBody>
      </p:sp>
      <p:sp>
        <p:nvSpPr>
          <p:cNvPr id="20" name="Text 18"/>
          <p:cNvSpPr/>
          <p:nvPr/>
        </p:nvSpPr>
        <p:spPr>
          <a:xfrm>
            <a:off x="3383280" y="3886200"/>
            <a:ext cx="228600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Persist in ChromaDB</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(chroma.sqlite3)</a:t>
            </a:r>
            <a:endParaRPr lang="en-US" sz="1150" dirty="0"/>
          </a:p>
        </p:txBody>
      </p:sp>
      <p:sp>
        <p:nvSpPr>
          <p:cNvPr id="21" name="Shape 19"/>
          <p:cNvSpPr/>
          <p:nvPr/>
        </p:nvSpPr>
        <p:spPr>
          <a:xfrm>
            <a:off x="5806440" y="2834640"/>
            <a:ext cx="228600" cy="54864"/>
          </a:xfrm>
          <a:prstGeom prst="rect">
            <a:avLst/>
          </a:prstGeom>
          <a:solidFill>
            <a:srgbClr val="028090"/>
          </a:solidFill>
          <a:ln w="12700">
            <a:solidFill>
              <a:srgbClr val="028090"/>
            </a:solidFill>
            <a:prstDash val="solid"/>
          </a:ln>
        </p:spPr>
      </p:sp>
      <p:sp>
        <p:nvSpPr>
          <p:cNvPr id="22" name="Shape 20"/>
          <p:cNvSpPr/>
          <p:nvPr/>
        </p:nvSpPr>
        <p:spPr>
          <a:xfrm>
            <a:off x="6035040" y="1234440"/>
            <a:ext cx="2606040" cy="3520440"/>
          </a:xfrm>
          <a:prstGeom prst="rect">
            <a:avLst/>
          </a:prstGeom>
          <a:solidFill>
            <a:srgbClr val="0F172A"/>
          </a:solidFill>
          <a:ln w="25400">
            <a:solidFill>
              <a:srgbClr val="7C3AED"/>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6035040" y="1234440"/>
            <a:ext cx="2606040" cy="502920"/>
          </a:xfrm>
          <a:prstGeom prst="rect">
            <a:avLst/>
          </a:prstGeom>
          <a:solidFill>
            <a:srgbClr val="7C3AED"/>
          </a:solidFill>
          <a:ln w="12700">
            <a:solidFill>
              <a:srgbClr val="7C3AED"/>
            </a:solidFill>
            <a:prstDash val="solid"/>
          </a:ln>
        </p:spPr>
      </p:sp>
      <p:sp>
        <p:nvSpPr>
          <p:cNvPr id="24" name="Text 22"/>
          <p:cNvSpPr/>
          <p:nvPr/>
        </p:nvSpPr>
        <p:spPr>
          <a:xfrm>
            <a:off x="6035040" y="1280160"/>
            <a:ext cx="2606040" cy="411480"/>
          </a:xfrm>
          <a:prstGeom prst="rect">
            <a:avLst/>
          </a:prstGeom>
          <a:noFill/>
          <a:ln/>
        </p:spPr>
        <p:txBody>
          <a:bodyPr wrap="square" rtlCol="0" anchor="ctr"/>
          <a:lstStyle/>
          <a:p>
            <a:pPr algn="ctr" indent="0" marL="0">
              <a:buNone/>
            </a:pPr>
            <a:r>
              <a:rPr lang="en-US" sz="1100" b="1" spc="300" kern="0" dirty="0">
                <a:solidFill>
                  <a:srgbClr val="FFFFFF"/>
                </a:solidFill>
                <a:latin typeface="Trebuchet MS" pitchFamily="34" charset="0"/>
                <a:ea typeface="Trebuchet MS" pitchFamily="34" charset="-122"/>
                <a:cs typeface="Trebuchet MS" pitchFamily="34" charset="-120"/>
              </a:rPr>
              <a:t>PHASE 3</a:t>
            </a:r>
            <a:endParaRPr lang="en-US" sz="1100" dirty="0"/>
          </a:p>
        </p:txBody>
      </p:sp>
      <p:sp>
        <p:nvSpPr>
          <p:cNvPr id="25" name="Text 23"/>
          <p:cNvSpPr/>
          <p:nvPr/>
        </p:nvSpPr>
        <p:spPr>
          <a:xfrm>
            <a:off x="6126480" y="1828800"/>
            <a:ext cx="2423160" cy="45720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Augmented Generation</a:t>
            </a:r>
            <a:endParaRPr lang="en-US" sz="1500" dirty="0"/>
          </a:p>
        </p:txBody>
      </p:sp>
      <p:sp>
        <p:nvSpPr>
          <p:cNvPr id="26" name="Text 24"/>
          <p:cNvSpPr/>
          <p:nvPr/>
        </p:nvSpPr>
        <p:spPr>
          <a:xfrm>
            <a:off x="6126480" y="2286000"/>
            <a:ext cx="2423160" cy="320040"/>
          </a:xfrm>
          <a:prstGeom prst="rect">
            <a:avLst/>
          </a:prstGeom>
          <a:noFill/>
          <a:ln/>
        </p:spPr>
        <p:txBody>
          <a:bodyPr wrap="square" rtlCol="0" anchor="ctr"/>
          <a:lstStyle/>
          <a:p>
            <a:pPr algn="ctr" indent="0" marL="0">
              <a:buNone/>
            </a:pPr>
            <a:r>
              <a:rPr lang="en-US" sz="1100" i="1" dirty="0">
                <a:solidFill>
                  <a:srgbClr val="7C3AED"/>
                </a:solidFill>
                <a:latin typeface="Consolas" pitchFamily="34" charset="0"/>
                <a:ea typeface="Consolas" pitchFamily="34" charset="-122"/>
                <a:cs typeface="Consolas" pitchFamily="34" charset="-120"/>
              </a:rPr>
              <a:t>engine.py</a:t>
            </a:r>
            <a:endParaRPr lang="en-US" sz="1100" dirty="0"/>
          </a:p>
        </p:txBody>
      </p:sp>
      <p:sp>
        <p:nvSpPr>
          <p:cNvPr id="27" name="Text 25"/>
          <p:cNvSpPr/>
          <p:nvPr/>
        </p:nvSpPr>
        <p:spPr>
          <a:xfrm>
            <a:off x="6217920" y="2697480"/>
            <a:ext cx="228600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Embed user query</a:t>
            </a:r>
            <a:endParaRPr lang="en-US" sz="1150" dirty="0"/>
          </a:p>
        </p:txBody>
      </p:sp>
      <p:sp>
        <p:nvSpPr>
          <p:cNvPr id="28" name="Text 26"/>
          <p:cNvSpPr/>
          <p:nvPr/>
        </p:nvSpPr>
        <p:spPr>
          <a:xfrm>
            <a:off x="6217920" y="3291840"/>
            <a:ext cx="228600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Cosine similarity search</a:t>
            </a:r>
            <a:endParaRPr lang="en-US" sz="1150" dirty="0"/>
          </a:p>
        </p:txBody>
      </p:sp>
      <p:sp>
        <p:nvSpPr>
          <p:cNvPr id="29" name="Text 27"/>
          <p:cNvSpPr/>
          <p:nvPr/>
        </p:nvSpPr>
        <p:spPr>
          <a:xfrm>
            <a:off x="6217920" y="3886200"/>
            <a:ext cx="228600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Inject top-k context</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into LLM prompt</a:t>
            </a:r>
            <a:endParaRPr lang="en-US" sz="1150" dirty="0"/>
          </a:p>
        </p:txBody>
      </p:sp>
      <p:sp>
        <p:nvSpPr>
          <p:cNvPr id="30" name="Text 28"/>
          <p:cNvSpPr/>
          <p:nvPr/>
        </p:nvSpPr>
        <p:spPr>
          <a:xfrm>
            <a:off x="457200" y="4800600"/>
            <a:ext cx="8229600" cy="274320"/>
          </a:xfrm>
          <a:prstGeom prst="rect">
            <a:avLst/>
          </a:prstGeom>
          <a:noFill/>
          <a:ln/>
        </p:spPr>
        <p:txBody>
          <a:bodyPr wrap="square" rtlCol="0" anchor="ctr"/>
          <a:lstStyle/>
          <a:p>
            <a:pPr algn="ctr" indent="0" marL="0">
              <a:buNone/>
            </a:pPr>
            <a:r>
              <a:rPr lang="en-US" sz="1050" i="1" dirty="0">
                <a:solidFill>
                  <a:srgbClr val="94A3B8"/>
                </a:solidFill>
                <a:latin typeface="Calibri" pitchFamily="34" charset="0"/>
                <a:ea typeface="Calibri" pitchFamily="34" charset="-122"/>
                <a:cs typeface="Calibri" pitchFamily="34" charset="-120"/>
              </a:rPr>
              <a:t>User Query → app.py → engine.py → ChromaDB → LLM → Accurate Response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w="12700">
            <a:solidFill>
              <a:srgbClr val="1E2761"/>
            </a:solidFill>
            <a:prstDash val="solid"/>
          </a:ln>
        </p:spPr>
      </p:sp>
      <p:sp>
        <p:nvSpPr>
          <p:cNvPr id="3" name="Shape 1"/>
          <p:cNvSpPr/>
          <p:nvPr/>
        </p:nvSpPr>
        <p:spPr>
          <a:xfrm>
            <a:off x="0" y="1005840"/>
            <a:ext cx="9144000" cy="64008"/>
          </a:xfrm>
          <a:prstGeom prst="rect">
            <a:avLst/>
          </a:prstGeom>
          <a:solidFill>
            <a:srgbClr val="028090"/>
          </a:solidFill>
          <a:ln w="12700">
            <a:solidFill>
              <a:srgbClr val="028090"/>
            </a:solidFill>
            <a:prstDash val="solid"/>
          </a:ln>
        </p:spPr>
      </p:sp>
      <p:sp>
        <p:nvSpPr>
          <p:cNvPr id="4" name="Text 2"/>
          <p:cNvSpPr/>
          <p:nvPr/>
        </p:nvSpPr>
        <p:spPr>
          <a:xfrm>
            <a:off x="457200" y="137160"/>
            <a:ext cx="8229600" cy="73152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Mathematical Framework</a:t>
            </a:r>
            <a:endParaRPr lang="en-US" sz="3000" dirty="0"/>
          </a:p>
        </p:txBody>
      </p:sp>
      <p:sp>
        <p:nvSpPr>
          <p:cNvPr id="5" name="Shape 3"/>
          <p:cNvSpPr/>
          <p:nvPr/>
        </p:nvSpPr>
        <p:spPr>
          <a:xfrm>
            <a:off x="320040" y="1234440"/>
            <a:ext cx="4114800" cy="35661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20040" y="1234440"/>
            <a:ext cx="4114800" cy="73152"/>
          </a:xfrm>
          <a:prstGeom prst="rect">
            <a:avLst/>
          </a:prstGeom>
          <a:solidFill>
            <a:srgbClr val="028090"/>
          </a:solidFill>
          <a:ln w="12700">
            <a:solidFill>
              <a:srgbClr val="028090"/>
            </a:solidFill>
            <a:prstDash val="solid"/>
          </a:ln>
        </p:spPr>
      </p:sp>
      <p:sp>
        <p:nvSpPr>
          <p:cNvPr id="7" name="Text 5"/>
          <p:cNvSpPr/>
          <p:nvPr/>
        </p:nvSpPr>
        <p:spPr>
          <a:xfrm>
            <a:off x="457200" y="1371600"/>
            <a:ext cx="3840480" cy="411480"/>
          </a:xfrm>
          <a:prstGeom prst="rect">
            <a:avLst/>
          </a:prstGeom>
          <a:noFill/>
          <a:ln/>
        </p:spPr>
        <p:txBody>
          <a:bodyPr wrap="square" rtlCol="0" anchor="ctr"/>
          <a:lstStyle/>
          <a:p>
            <a:pPr algn="ctr" indent="0" marL="0">
              <a:buNone/>
            </a:pPr>
            <a:r>
              <a:rPr lang="en-US" sz="1600" b="1" dirty="0">
                <a:solidFill>
                  <a:srgbClr val="1E2761"/>
                </a:solidFill>
                <a:latin typeface="Trebuchet MS" pitchFamily="34" charset="0"/>
                <a:ea typeface="Trebuchet MS" pitchFamily="34" charset="-122"/>
                <a:cs typeface="Trebuchet MS" pitchFamily="34" charset="-120"/>
              </a:rPr>
              <a:t>Cosine Similarity</a:t>
            </a:r>
            <a:endParaRPr lang="en-US" sz="1600" dirty="0"/>
          </a:p>
        </p:txBody>
      </p:sp>
      <p:sp>
        <p:nvSpPr>
          <p:cNvPr id="8" name="Text 6"/>
          <p:cNvSpPr/>
          <p:nvPr/>
        </p:nvSpPr>
        <p:spPr>
          <a:xfrm>
            <a:off x="457200" y="1874520"/>
            <a:ext cx="3840480" cy="502920"/>
          </a:xfrm>
          <a:prstGeom prst="rect">
            <a:avLst/>
          </a:prstGeom>
          <a:noFill/>
          <a:ln/>
        </p:spPr>
        <p:txBody>
          <a:bodyPr wrap="square" rtlCol="0" anchor="ctr"/>
          <a:lstStyle/>
          <a:p>
            <a:pPr algn="ctr" indent="0" marL="0">
              <a:buNone/>
            </a:pPr>
            <a:r>
              <a:rPr lang="en-US" sz="1700" b="1" dirty="0">
                <a:solidFill>
                  <a:srgbClr val="028090"/>
                </a:solidFill>
                <a:latin typeface="Consolas" pitchFamily="34" charset="0"/>
                <a:ea typeface="Consolas" pitchFamily="34" charset="-122"/>
                <a:cs typeface="Consolas" pitchFamily="34" charset="-120"/>
              </a:rPr>
              <a:t>cos(θ) = (Q · C) / (|Q| × |C|)</a:t>
            </a:r>
            <a:endParaRPr lang="en-US" sz="1700" dirty="0"/>
          </a:p>
        </p:txBody>
      </p:sp>
      <p:sp>
        <p:nvSpPr>
          <p:cNvPr id="9" name="Text 7"/>
          <p:cNvSpPr/>
          <p:nvPr/>
        </p:nvSpPr>
        <p:spPr>
          <a:xfrm>
            <a:off x="457200" y="2468880"/>
            <a:ext cx="3840480" cy="2240280"/>
          </a:xfrm>
          <a:prstGeom prst="rect">
            <a:avLst/>
          </a:prstGeom>
          <a:noFill/>
          <a:ln/>
        </p:spPr>
        <p:txBody>
          <a:bodyPr wrap="square" rtlCol="0" anchor="ctr"/>
          <a:lstStyle/>
          <a:p>
            <a:pPr indent="0" marL="0">
              <a:buNone/>
            </a:pPr>
            <a:r>
              <a:rPr lang="en-US" sz="1250" b="1" dirty="0">
                <a:solidFill>
                  <a:srgbClr val="334155"/>
                </a:solidFill>
                <a:latin typeface="Calibri" pitchFamily="34" charset="0"/>
                <a:ea typeface="Calibri" pitchFamily="34" charset="-122"/>
                <a:cs typeface="Calibri" pitchFamily="34" charset="-120"/>
              </a:rPr>
              <a:t>Q</a:t>
            </a:r>
            <a:pPr indent="0" marL="0">
              <a:buNone/>
            </a:pPr>
            <a:r>
              <a:rPr lang="en-US" sz="1250" dirty="0">
                <a:solidFill>
                  <a:srgbClr val="334155"/>
                </a:solidFill>
                <a:latin typeface="Calibri" pitchFamily="34" charset="0"/>
                <a:ea typeface="Calibri" pitchFamily="34" charset="-122"/>
                <a:cs typeface="Calibri" pitchFamily="34" charset="-120"/>
              </a:rPr>
              <a:t> = query vector
</a:t>
            </a:r>
            <a:pPr indent="0" marL="0">
              <a:buNone/>
            </a:pPr>
            <a:r>
              <a:rPr lang="en-US" sz="1250" b="1" dirty="0">
                <a:solidFill>
                  <a:srgbClr val="334155"/>
                </a:solidFill>
                <a:latin typeface="Calibri" pitchFamily="34" charset="0"/>
                <a:ea typeface="Calibri" pitchFamily="34" charset="-122"/>
                <a:cs typeface="Calibri" pitchFamily="34" charset="-120"/>
              </a:rPr>
              <a:t>C</a:t>
            </a:r>
            <a:pPr indent="0" marL="0">
              <a:buNone/>
            </a:pPr>
            <a:r>
              <a:rPr lang="en-US" sz="1250" dirty="0">
                <a:solidFill>
                  <a:srgbClr val="334155"/>
                </a:solidFill>
                <a:latin typeface="Calibri" pitchFamily="34" charset="0"/>
                <a:ea typeface="Calibri" pitchFamily="34" charset="-122"/>
                <a:cs typeface="Calibri" pitchFamily="34" charset="-120"/>
              </a:rPr>
              <a:t> = document chunk vector
</a:t>
            </a:r>
            <a:pPr indent="0" marL="0">
              <a:buNone/>
            </a:pPr>
            <a:r>
              <a:rPr lang="en-US" sz="1250" b="1" dirty="0">
                <a:solidFill>
                  <a:srgbClr val="334155"/>
                </a:solidFill>
                <a:latin typeface="Calibri" pitchFamily="34" charset="0"/>
                <a:ea typeface="Calibri" pitchFamily="34" charset="-122"/>
                <a:cs typeface="Calibri" pitchFamily="34" charset="-120"/>
              </a:rPr>
              <a:t>n</a:t>
            </a:r>
            <a:pPr indent="0" marL="0">
              <a:buNone/>
            </a:pPr>
            <a:r>
              <a:rPr lang="en-US" sz="1250" dirty="0">
                <a:solidFill>
                  <a:srgbClr val="334155"/>
                </a:solidFill>
                <a:latin typeface="Calibri" pitchFamily="34" charset="0"/>
                <a:ea typeface="Calibri" pitchFamily="34" charset="-122"/>
                <a:cs typeface="Calibri" pitchFamily="34" charset="-120"/>
              </a:rPr>
              <a:t> = 384 embedding dimensions
</a:t>
            </a:r>
            <a:pPr indent="0" marL="0">
              <a:buNone/>
            </a:pPr>
            <a:r>
              <a:rPr lang="en-US" sz="1250" b="1" dirty="0">
                <a:solidFill>
                  <a:srgbClr val="028090"/>
                </a:solidFill>
                <a:latin typeface="Calibri" pitchFamily="34" charset="0"/>
                <a:ea typeface="Calibri" pitchFamily="34" charset="-122"/>
                <a:cs typeface="Calibri" pitchFamily="34" charset="-120"/>
              </a:rPr>
              <a:t>Result = 1</a:t>
            </a:r>
            <a:pPr indent="0" marL="0">
              <a:buNone/>
            </a:pPr>
            <a:r>
              <a:rPr lang="en-US" sz="1250" dirty="0">
                <a:solidFill>
                  <a:srgbClr val="334155"/>
                </a:solidFill>
                <a:latin typeface="Calibri" pitchFamily="34" charset="0"/>
                <a:ea typeface="Calibri" pitchFamily="34" charset="-122"/>
                <a:cs typeface="Calibri" pitchFamily="34" charset="-120"/>
              </a:rPr>
              <a:t> → perfect match (0°)
</a:t>
            </a:r>
            <a:pPr indent="0" marL="0">
              <a:buNone/>
            </a:pPr>
            <a:r>
              <a:rPr lang="en-US" sz="1250" b="1" dirty="0">
                <a:solidFill>
                  <a:srgbClr val="94A3B8"/>
                </a:solidFill>
                <a:latin typeface="Calibri" pitchFamily="34" charset="0"/>
                <a:ea typeface="Calibri" pitchFamily="34" charset="-122"/>
                <a:cs typeface="Calibri" pitchFamily="34" charset="-120"/>
              </a:rPr>
              <a:t>Result = 0</a:t>
            </a:r>
            <a:pPr indent="0" marL="0">
              <a:buNone/>
            </a:pPr>
            <a:r>
              <a:rPr lang="en-US" sz="1250" dirty="0">
                <a:solidFill>
                  <a:srgbClr val="334155"/>
                </a:solidFill>
                <a:latin typeface="Calibri" pitchFamily="34" charset="0"/>
                <a:ea typeface="Calibri" pitchFamily="34" charset="-122"/>
                <a:cs typeface="Calibri" pitchFamily="34" charset="-120"/>
              </a:rPr>
              <a:t> → no semantic relation (90°)</a:t>
            </a:r>
            <a:endParaRPr lang="en-US" sz="1250" dirty="0"/>
          </a:p>
        </p:txBody>
      </p:sp>
      <p:sp>
        <p:nvSpPr>
          <p:cNvPr id="10" name="Shape 8"/>
          <p:cNvSpPr/>
          <p:nvPr/>
        </p:nvSpPr>
        <p:spPr>
          <a:xfrm>
            <a:off x="4709160" y="1234440"/>
            <a:ext cx="4114800" cy="35661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709160" y="1234440"/>
            <a:ext cx="4114800" cy="73152"/>
          </a:xfrm>
          <a:prstGeom prst="rect">
            <a:avLst/>
          </a:prstGeom>
          <a:solidFill>
            <a:srgbClr val="1E2761"/>
          </a:solidFill>
          <a:ln w="12700">
            <a:solidFill>
              <a:srgbClr val="1E2761"/>
            </a:solidFill>
            <a:prstDash val="solid"/>
          </a:ln>
        </p:spPr>
      </p:sp>
      <p:sp>
        <p:nvSpPr>
          <p:cNvPr id="12" name="Text 10"/>
          <p:cNvSpPr/>
          <p:nvPr/>
        </p:nvSpPr>
        <p:spPr>
          <a:xfrm>
            <a:off x="4846320" y="1371600"/>
            <a:ext cx="3840480" cy="411480"/>
          </a:xfrm>
          <a:prstGeom prst="rect">
            <a:avLst/>
          </a:prstGeom>
          <a:noFill/>
          <a:ln/>
        </p:spPr>
        <p:txBody>
          <a:bodyPr wrap="square" rtlCol="0" anchor="ctr"/>
          <a:lstStyle/>
          <a:p>
            <a:pPr algn="ctr" indent="0" marL="0">
              <a:buNone/>
            </a:pPr>
            <a:r>
              <a:rPr lang="en-US" sz="1600" b="1" dirty="0">
                <a:solidFill>
                  <a:srgbClr val="1E2761"/>
                </a:solidFill>
                <a:latin typeface="Trebuchet MS" pitchFamily="34" charset="0"/>
                <a:ea typeface="Trebuchet MS" pitchFamily="34" charset="-122"/>
                <a:cs typeface="Trebuchet MS" pitchFamily="34" charset="-120"/>
              </a:rPr>
              <a:t>HNSW Optimization (ANN)</a:t>
            </a:r>
            <a:endParaRPr lang="en-US" sz="1600" dirty="0"/>
          </a:p>
        </p:txBody>
      </p:sp>
      <p:sp>
        <p:nvSpPr>
          <p:cNvPr id="13" name="Text 11"/>
          <p:cNvSpPr/>
          <p:nvPr/>
        </p:nvSpPr>
        <p:spPr>
          <a:xfrm>
            <a:off x="4846320" y="1874520"/>
            <a:ext cx="3840480" cy="640080"/>
          </a:xfrm>
          <a:prstGeom prst="rect">
            <a:avLst/>
          </a:prstGeom>
          <a:noFill/>
          <a:ln/>
        </p:spPr>
        <p:txBody>
          <a:bodyPr wrap="square" rtlCol="0" anchor="ctr"/>
          <a:lstStyle/>
          <a:p>
            <a:pPr algn="ctr" indent="0" marL="0">
              <a:buNone/>
            </a:pPr>
            <a:r>
              <a:rPr lang="en-US" sz="1500" b="1" dirty="0">
                <a:solidFill>
                  <a:srgbClr val="000000"/>
                </a:solidFill>
                <a:latin typeface="Consolas" pitchFamily="34" charset="0"/>
                <a:ea typeface="Consolas" pitchFamily="34" charset="-122"/>
                <a:cs typeface="Consolas" pitchFamily="34" charset="-120"/>
              </a:rPr>
              <a:t>Naïve search: </a:t>
            </a:r>
            <a:pPr algn="ctr" indent="0" marL="0">
              <a:buNone/>
            </a:pPr>
            <a:r>
              <a:rPr lang="en-US" sz="1500" dirty="0">
                <a:solidFill>
                  <a:srgbClr val="EF4444"/>
                </a:solidFill>
                <a:latin typeface="Consolas" pitchFamily="34" charset="0"/>
                <a:ea typeface="Consolas" pitchFamily="34" charset="-122"/>
                <a:cs typeface="Consolas" pitchFamily="34" charset="-120"/>
              </a:rPr>
              <a:t>O(N × D)
</a:t>
            </a:r>
            <a:pPr algn="ctr" indent="0" marL="0">
              <a:buNone/>
            </a:pPr>
            <a:r>
              <a:rPr lang="en-US" sz="1500" b="1" dirty="0">
                <a:solidFill>
                  <a:srgbClr val="000000"/>
                </a:solidFill>
                <a:latin typeface="Consolas" pitchFamily="34" charset="0"/>
                <a:ea typeface="Consolas" pitchFamily="34" charset="-122"/>
                <a:cs typeface="Consolas" pitchFamily="34" charset="-120"/>
              </a:rPr>
              <a:t>HNSW search: </a:t>
            </a:r>
            <a:pPr algn="ctr" indent="0" marL="0">
              <a:buNone/>
            </a:pPr>
            <a:r>
              <a:rPr lang="en-US" sz="1500" dirty="0">
                <a:solidFill>
                  <a:srgbClr val="028090"/>
                </a:solidFill>
                <a:latin typeface="Consolas" pitchFamily="34" charset="0"/>
                <a:ea typeface="Consolas" pitchFamily="34" charset="-122"/>
                <a:cs typeface="Consolas" pitchFamily="34" charset="-120"/>
              </a:rPr>
              <a:t>O(log N)</a:t>
            </a:r>
            <a:endParaRPr lang="en-US" sz="1500" dirty="0"/>
          </a:p>
        </p:txBody>
      </p:sp>
      <p:sp>
        <p:nvSpPr>
          <p:cNvPr id="14" name="Text 12"/>
          <p:cNvSpPr/>
          <p:nvPr/>
        </p:nvSpPr>
        <p:spPr>
          <a:xfrm>
            <a:off x="4846320" y="2606040"/>
            <a:ext cx="3840480" cy="2103120"/>
          </a:xfrm>
          <a:prstGeom prst="rect">
            <a:avLst/>
          </a:prstGeom>
          <a:noFill/>
          <a:ln/>
        </p:spPr>
        <p:txBody>
          <a:bodyPr wrap="square" rtlCol="0" anchor="ctr"/>
          <a:lstStyle/>
          <a:p>
            <a:pPr indent="0" marL="0">
              <a:buNone/>
            </a:pPr>
            <a:r>
              <a:rPr lang="en-US" sz="1200" dirty="0">
                <a:solidFill>
                  <a:srgbClr val="334155"/>
                </a:solidFill>
                <a:latin typeface="Calibri" pitchFamily="34" charset="0"/>
                <a:ea typeface="Calibri" pitchFamily="34" charset="-122"/>
                <a:cs typeface="Calibri" pitchFamily="34" charset="-120"/>
              </a:rPr>
              <a:t>Hierarchical Navigable Small World graphs partition the vector space into layered proximity graphs. Instead of comparing every chunk, the engine traverses graph edges to reach the nearest neighbors in logarithmic time — enabling sub-second retrieval even across thousands of document chunks.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w="12700">
            <a:solidFill>
              <a:srgbClr val="028090"/>
            </a:solidFill>
            <a:prstDash val="solid"/>
          </a:ln>
        </p:spPr>
      </p:sp>
      <p:sp>
        <p:nvSpPr>
          <p:cNvPr id="3" name="Text 1"/>
          <p:cNvSpPr/>
          <p:nvPr/>
        </p:nvSpPr>
        <p:spPr>
          <a:xfrm>
            <a:off x="457200" y="137160"/>
            <a:ext cx="8229600" cy="73152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Results &amp; Impact</a:t>
            </a:r>
            <a:endParaRPr lang="en-US" sz="3000" dirty="0"/>
          </a:p>
        </p:txBody>
      </p:sp>
      <p:sp>
        <p:nvSpPr>
          <p:cNvPr id="4" name="Shape 2"/>
          <p:cNvSpPr/>
          <p:nvPr/>
        </p:nvSpPr>
        <p:spPr>
          <a:xfrm>
            <a:off x="365760" y="1234440"/>
            <a:ext cx="2606040" cy="2377440"/>
          </a:xfrm>
          <a:prstGeom prst="rect">
            <a:avLst/>
          </a:prstGeom>
          <a:solidFill>
            <a:srgbClr val="0F2044"/>
          </a:solidFill>
          <a:ln w="25400">
            <a:solidFill>
              <a:srgbClr val="028090"/>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65760" y="1371600"/>
            <a:ext cx="2606040" cy="822960"/>
          </a:xfrm>
          <a:prstGeom prst="rect">
            <a:avLst/>
          </a:prstGeom>
          <a:noFill/>
          <a:ln/>
        </p:spPr>
        <p:txBody>
          <a:bodyPr wrap="square" rtlCol="0" anchor="ctr"/>
          <a:lstStyle/>
          <a:p>
            <a:pPr algn="ctr" indent="0" marL="0">
              <a:buNone/>
            </a:pPr>
            <a:r>
              <a:rPr lang="en-US" sz="4200" b="1" dirty="0">
                <a:solidFill>
                  <a:srgbClr val="028090"/>
                </a:solidFill>
                <a:latin typeface="Trebuchet MS" pitchFamily="34" charset="0"/>
                <a:ea typeface="Trebuchet MS" pitchFamily="34" charset="-122"/>
                <a:cs typeface="Trebuchet MS" pitchFamily="34" charset="-120"/>
              </a:rPr>
              <a:t>&lt;1.5s</a:t>
            </a:r>
            <a:endParaRPr lang="en-US" sz="4200" dirty="0"/>
          </a:p>
        </p:txBody>
      </p:sp>
      <p:sp>
        <p:nvSpPr>
          <p:cNvPr id="6" name="Text 4"/>
          <p:cNvSpPr/>
          <p:nvPr/>
        </p:nvSpPr>
        <p:spPr>
          <a:xfrm>
            <a:off x="365760" y="2240280"/>
            <a:ext cx="2606040" cy="41148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Retrieval Latency</a:t>
            </a:r>
            <a:endParaRPr lang="en-US" sz="1400" dirty="0"/>
          </a:p>
        </p:txBody>
      </p:sp>
      <p:sp>
        <p:nvSpPr>
          <p:cNvPr id="7" name="Text 5"/>
          <p:cNvSpPr/>
          <p:nvPr/>
        </p:nvSpPr>
        <p:spPr>
          <a:xfrm>
            <a:off x="457200" y="2651760"/>
            <a:ext cx="2423160" cy="82296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vs. minutes of manual searching</a:t>
            </a:r>
            <a:endParaRPr lang="en-US" sz="1100" dirty="0"/>
          </a:p>
        </p:txBody>
      </p:sp>
      <p:sp>
        <p:nvSpPr>
          <p:cNvPr id="8" name="Shape 6"/>
          <p:cNvSpPr/>
          <p:nvPr/>
        </p:nvSpPr>
        <p:spPr>
          <a:xfrm>
            <a:off x="3200400" y="1234440"/>
            <a:ext cx="2606040" cy="2377440"/>
          </a:xfrm>
          <a:prstGeom prst="rect">
            <a:avLst/>
          </a:prstGeom>
          <a:solidFill>
            <a:srgbClr val="0F2044"/>
          </a:solidFill>
          <a:ln w="25400">
            <a:solidFill>
              <a:srgbClr val="A78BFA"/>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3200400" y="1371600"/>
            <a:ext cx="2606040" cy="822960"/>
          </a:xfrm>
          <a:prstGeom prst="rect">
            <a:avLst/>
          </a:prstGeom>
          <a:noFill/>
          <a:ln/>
        </p:spPr>
        <p:txBody>
          <a:bodyPr wrap="square" rtlCol="0" anchor="ctr"/>
          <a:lstStyle/>
          <a:p>
            <a:pPr algn="ctr" indent="0" marL="0">
              <a:buNone/>
            </a:pPr>
            <a:r>
              <a:rPr lang="en-US" sz="4200" b="1" dirty="0">
                <a:solidFill>
                  <a:srgbClr val="A78BFA"/>
                </a:solidFill>
                <a:latin typeface="Trebuchet MS" pitchFamily="34" charset="0"/>
                <a:ea typeface="Trebuchet MS" pitchFamily="34" charset="-122"/>
                <a:cs typeface="Trebuchet MS" pitchFamily="34" charset="-120"/>
              </a:rPr>
              <a:t>~0</a:t>
            </a:r>
            <a:endParaRPr lang="en-US" sz="4200" dirty="0"/>
          </a:p>
        </p:txBody>
      </p:sp>
      <p:sp>
        <p:nvSpPr>
          <p:cNvPr id="10" name="Text 8"/>
          <p:cNvSpPr/>
          <p:nvPr/>
        </p:nvSpPr>
        <p:spPr>
          <a:xfrm>
            <a:off x="3200400" y="2240280"/>
            <a:ext cx="2606040" cy="41148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Hallucinations</a:t>
            </a:r>
            <a:endParaRPr lang="en-US" sz="1400" dirty="0"/>
          </a:p>
        </p:txBody>
      </p:sp>
      <p:sp>
        <p:nvSpPr>
          <p:cNvPr id="11" name="Text 9"/>
          <p:cNvSpPr/>
          <p:nvPr/>
        </p:nvSpPr>
        <p:spPr>
          <a:xfrm>
            <a:off x="3291840" y="2651760"/>
            <a:ext cx="2423160" cy="82296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Responses strictly grounded in approved documents</a:t>
            </a:r>
            <a:endParaRPr lang="en-US" sz="1100" dirty="0"/>
          </a:p>
        </p:txBody>
      </p:sp>
      <p:sp>
        <p:nvSpPr>
          <p:cNvPr id="12" name="Shape 10"/>
          <p:cNvSpPr/>
          <p:nvPr/>
        </p:nvSpPr>
        <p:spPr>
          <a:xfrm>
            <a:off x="6035040" y="1234440"/>
            <a:ext cx="2606040" cy="2377440"/>
          </a:xfrm>
          <a:prstGeom prst="rect">
            <a:avLst/>
          </a:prstGeom>
          <a:solidFill>
            <a:srgbClr val="0F2044"/>
          </a:solidFill>
          <a:ln w="25400">
            <a:solidFill>
              <a:srgbClr val="34D399"/>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6035040" y="1371600"/>
            <a:ext cx="2606040" cy="822960"/>
          </a:xfrm>
          <a:prstGeom prst="rect">
            <a:avLst/>
          </a:prstGeom>
          <a:noFill/>
          <a:ln/>
        </p:spPr>
        <p:txBody>
          <a:bodyPr wrap="square" rtlCol="0" anchor="ctr"/>
          <a:lstStyle/>
          <a:p>
            <a:pPr algn="ctr" indent="0" marL="0">
              <a:buNone/>
            </a:pPr>
            <a:r>
              <a:rPr lang="en-US" sz="4200" b="1" dirty="0">
                <a:solidFill>
                  <a:srgbClr val="34D399"/>
                </a:solidFill>
                <a:latin typeface="Trebuchet MS" pitchFamily="34" charset="0"/>
                <a:ea typeface="Trebuchet MS" pitchFamily="34" charset="-122"/>
                <a:cs typeface="Trebuchet MS" pitchFamily="34" charset="-120"/>
              </a:rPr>
              <a:t>100%</a:t>
            </a:r>
            <a:endParaRPr lang="en-US" sz="4200" dirty="0"/>
          </a:p>
        </p:txBody>
      </p:sp>
      <p:sp>
        <p:nvSpPr>
          <p:cNvPr id="14" name="Text 12"/>
          <p:cNvSpPr/>
          <p:nvPr/>
        </p:nvSpPr>
        <p:spPr>
          <a:xfrm>
            <a:off x="6035040" y="2240280"/>
            <a:ext cx="2606040" cy="41148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Synonym Handling</a:t>
            </a:r>
            <a:endParaRPr lang="en-US" sz="1400" dirty="0"/>
          </a:p>
        </p:txBody>
      </p:sp>
      <p:sp>
        <p:nvSpPr>
          <p:cNvPr id="15" name="Text 13"/>
          <p:cNvSpPr/>
          <p:nvPr/>
        </p:nvSpPr>
        <p:spPr>
          <a:xfrm>
            <a:off x="6126480" y="2651760"/>
            <a:ext cx="2423160" cy="82296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Cosine similarity overcomes keyword limitations</a:t>
            </a:r>
            <a:endParaRPr lang="en-US" sz="1100" dirty="0"/>
          </a:p>
        </p:txBody>
      </p:sp>
      <p:sp>
        <p:nvSpPr>
          <p:cNvPr id="16" name="Shape 14"/>
          <p:cNvSpPr/>
          <p:nvPr/>
        </p:nvSpPr>
        <p:spPr>
          <a:xfrm>
            <a:off x="320040" y="3749040"/>
            <a:ext cx="8503920" cy="1097280"/>
          </a:xfrm>
          <a:prstGeom prst="rect">
            <a:avLst/>
          </a:prstGeom>
          <a:solidFill>
            <a:srgbClr val="0F2044"/>
          </a:solidFill>
          <a:ln w="12700">
            <a:solidFill>
              <a:srgbClr val="028090"/>
            </a:solidFill>
            <a:prstDash val="solid"/>
          </a:ln>
        </p:spPr>
      </p:sp>
      <p:sp>
        <p:nvSpPr>
          <p:cNvPr id="17" name="Text 15"/>
          <p:cNvSpPr/>
          <p:nvPr/>
        </p:nvSpPr>
        <p:spPr>
          <a:xfrm>
            <a:off x="502920" y="3840480"/>
            <a:ext cx="8138160" cy="914400"/>
          </a:xfrm>
          <a:prstGeom prst="rect">
            <a:avLst/>
          </a:prstGeom>
          <a:noFill/>
          <a:ln/>
        </p:spPr>
        <p:txBody>
          <a:bodyPr wrap="square"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Architecture Scalability: </a:t>
            </a:r>
            <a:pPr indent="0" marL="0">
              <a:buNone/>
            </a:pPr>
            <a:r>
              <a:rPr lang="en-US" sz="1250" dirty="0">
                <a:solidFill>
                  <a:srgbClr val="CADCFC"/>
                </a:solidFill>
                <a:latin typeface="Calibri" pitchFamily="34" charset="0"/>
                <a:ea typeface="Calibri" pitchFamily="34" charset="-122"/>
                <a:cs typeface="Calibri" pitchFamily="34" charset="-120"/>
              </a:rPr>
              <a:t>New manuals can be dropped into the ingestion pipeline without retraining the LLM. </a:t>
            </a:r>
            <a:pPr indent="0" marL="0">
              <a:buNone/>
            </a:pPr>
            <a:r>
              <a:rPr lang="en-US" sz="1250" b="1" dirty="0">
                <a:solidFill>
                  <a:srgbClr val="A78BFA"/>
                </a:solidFill>
                <a:latin typeface="Calibri" pitchFamily="34" charset="0"/>
                <a:ea typeface="Calibri" pitchFamily="34" charset="-122"/>
                <a:cs typeface="Calibri" pitchFamily="34" charset="-120"/>
              </a:rPr>
              <a:t>Compliance Guaranteed: </a:t>
            </a:r>
            <a:pPr indent="0" marL="0">
              <a:buNone/>
            </a:pPr>
            <a:r>
              <a:rPr lang="en-US" sz="1250" dirty="0">
                <a:solidFill>
                  <a:srgbClr val="CADCFC"/>
                </a:solidFill>
                <a:latin typeface="Calibri" pitchFamily="34" charset="0"/>
                <a:ea typeface="Calibri" pitchFamily="34" charset="-122"/>
                <a:cs typeface="Calibri" pitchFamily="34" charset="-120"/>
              </a:rPr>
              <a:t>All answers are exclusively derived from approved internal documents.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28090"/>
          </a:solidFill>
          <a:ln w="12700">
            <a:solidFill>
              <a:srgbClr val="028090"/>
            </a:solidFill>
            <a:prstDash val="solid"/>
          </a:ln>
        </p:spPr>
      </p:sp>
      <p:sp>
        <p:nvSpPr>
          <p:cNvPr id="3" name="Text 1"/>
          <p:cNvSpPr/>
          <p:nvPr/>
        </p:nvSpPr>
        <p:spPr>
          <a:xfrm>
            <a:off x="228600" y="1371600"/>
            <a:ext cx="3383280" cy="1005840"/>
          </a:xfrm>
          <a:prstGeom prst="rect">
            <a:avLst/>
          </a:prstGeom>
          <a:noFill/>
          <a:ln/>
        </p:spPr>
        <p:txBody>
          <a:bodyPr wrap="square" rtlCol="0" anchor="ct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Conclusion</a:t>
            </a:r>
            <a:endParaRPr lang="en-US" sz="3200" dirty="0"/>
          </a:p>
        </p:txBody>
      </p:sp>
      <p:sp>
        <p:nvSpPr>
          <p:cNvPr id="4" name="Text 2"/>
          <p:cNvSpPr/>
          <p:nvPr/>
        </p:nvSpPr>
        <p:spPr>
          <a:xfrm>
            <a:off x="228600" y="2468880"/>
            <a:ext cx="3383280" cy="822960"/>
          </a:xfrm>
          <a:prstGeom prst="rect">
            <a:avLst/>
          </a:prstGeom>
          <a:noFill/>
          <a:ln/>
        </p:spPr>
        <p:txBody>
          <a:bodyPr wrap="square" rtlCol="0" anchor="ctr"/>
          <a:lstStyle/>
          <a:p>
            <a:pPr algn="l" indent="0" marL="0">
              <a:buNone/>
            </a:pPr>
            <a:r>
              <a:rPr lang="en-US" sz="1300" dirty="0">
                <a:solidFill>
                  <a:srgbClr val="D1FAE5"/>
                </a:solidFill>
                <a:latin typeface="Calibri" pitchFamily="34" charset="0"/>
                <a:ea typeface="Calibri" pitchFamily="34" charset="-122"/>
                <a:cs typeface="Calibri" pitchFamily="34" charset="-120"/>
              </a:rPr>
              <a:t>Capgemini</a:t>
            </a:r>
            <a:endParaRPr lang="en-US" sz="1300" dirty="0"/>
          </a:p>
          <a:p>
            <a:pPr algn="l" indent="0" marL="0">
              <a:buNone/>
            </a:pPr>
            <a:r>
              <a:rPr lang="en-US" sz="1300" dirty="0">
                <a:solidFill>
                  <a:srgbClr val="D1FAE5"/>
                </a:solidFill>
                <a:latin typeface="Calibri" pitchFamily="34" charset="0"/>
                <a:ea typeface="Calibri" pitchFamily="34" charset="-122"/>
                <a:cs typeface="Calibri" pitchFamily="34" charset="-120"/>
              </a:rPr>
              <a:t>Internship Project</a:t>
            </a:r>
            <a:endParaRPr lang="en-US" sz="1300" dirty="0"/>
          </a:p>
        </p:txBody>
      </p:sp>
      <p:sp>
        <p:nvSpPr>
          <p:cNvPr id="5" name="Shape 3"/>
          <p:cNvSpPr/>
          <p:nvPr/>
        </p:nvSpPr>
        <p:spPr>
          <a:xfrm>
            <a:off x="4114800" y="457200"/>
            <a:ext cx="4709160" cy="749808"/>
          </a:xfrm>
          <a:prstGeom prst="rect">
            <a:avLst/>
          </a:prstGeom>
          <a:solidFill>
            <a:srgbClr val="0F172A"/>
          </a:solidFill>
          <a:ln w="12700">
            <a:solidFill>
              <a:srgbClr val="1E3A5F"/>
            </a:solidFill>
            <a:prstDash val="solid"/>
          </a:ln>
        </p:spPr>
      </p:sp>
      <p:sp>
        <p:nvSpPr>
          <p:cNvPr id="6" name="Shape 4"/>
          <p:cNvSpPr/>
          <p:nvPr/>
        </p:nvSpPr>
        <p:spPr>
          <a:xfrm>
            <a:off x="4160520" y="566928"/>
            <a:ext cx="320040" cy="320040"/>
          </a:xfrm>
          <a:prstGeom prst="ellipse">
            <a:avLst/>
          </a:prstGeom>
          <a:solidFill>
            <a:srgbClr val="028090"/>
          </a:solidFill>
          <a:ln w="12700">
            <a:solidFill>
              <a:srgbClr val="028090"/>
            </a:solidFill>
            <a:prstDash val="solid"/>
          </a:ln>
        </p:spPr>
      </p:sp>
      <p:sp>
        <p:nvSpPr>
          <p:cNvPr id="7" name="Text 5"/>
          <p:cNvSpPr/>
          <p:nvPr/>
        </p:nvSpPr>
        <p:spPr>
          <a:xfrm>
            <a:off x="4617720" y="521208"/>
            <a:ext cx="4114800" cy="658368"/>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RAG is a viable and necessary enterprise architecture for knowledge management.</a:t>
            </a:r>
            <a:endParaRPr lang="en-US" sz="1150" dirty="0"/>
          </a:p>
        </p:txBody>
      </p:sp>
      <p:sp>
        <p:nvSpPr>
          <p:cNvPr id="8" name="Shape 6"/>
          <p:cNvSpPr/>
          <p:nvPr/>
        </p:nvSpPr>
        <p:spPr>
          <a:xfrm>
            <a:off x="4114800" y="1325880"/>
            <a:ext cx="4709160" cy="749808"/>
          </a:xfrm>
          <a:prstGeom prst="rect">
            <a:avLst/>
          </a:prstGeom>
          <a:solidFill>
            <a:srgbClr val="0F172A"/>
          </a:solidFill>
          <a:ln w="12700">
            <a:solidFill>
              <a:srgbClr val="1E3A5F"/>
            </a:solidFill>
            <a:prstDash val="solid"/>
          </a:ln>
        </p:spPr>
      </p:sp>
      <p:sp>
        <p:nvSpPr>
          <p:cNvPr id="9" name="Shape 7"/>
          <p:cNvSpPr/>
          <p:nvPr/>
        </p:nvSpPr>
        <p:spPr>
          <a:xfrm>
            <a:off x="4160520" y="1435608"/>
            <a:ext cx="320040" cy="320040"/>
          </a:xfrm>
          <a:prstGeom prst="ellipse">
            <a:avLst/>
          </a:prstGeom>
          <a:solidFill>
            <a:srgbClr val="028090"/>
          </a:solidFill>
          <a:ln w="12700">
            <a:solidFill>
              <a:srgbClr val="028090"/>
            </a:solidFill>
            <a:prstDash val="solid"/>
          </a:ln>
        </p:spPr>
      </p:sp>
      <p:sp>
        <p:nvSpPr>
          <p:cNvPr id="10" name="Text 8"/>
          <p:cNvSpPr/>
          <p:nvPr/>
        </p:nvSpPr>
        <p:spPr>
          <a:xfrm>
            <a:off x="4617720" y="1389888"/>
            <a:ext cx="4114800" cy="658368"/>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Automated ingestion + mathematical vectorization + prompt engineering = intelligent document access.</a:t>
            </a:r>
            <a:endParaRPr lang="en-US" sz="1150" dirty="0"/>
          </a:p>
        </p:txBody>
      </p:sp>
      <p:sp>
        <p:nvSpPr>
          <p:cNvPr id="11" name="Shape 9"/>
          <p:cNvSpPr/>
          <p:nvPr/>
        </p:nvSpPr>
        <p:spPr>
          <a:xfrm>
            <a:off x="4114800" y="2194560"/>
            <a:ext cx="4709160" cy="749808"/>
          </a:xfrm>
          <a:prstGeom prst="rect">
            <a:avLst/>
          </a:prstGeom>
          <a:solidFill>
            <a:srgbClr val="0F172A"/>
          </a:solidFill>
          <a:ln w="12700">
            <a:solidFill>
              <a:srgbClr val="1E3A5F"/>
            </a:solidFill>
            <a:prstDash val="solid"/>
          </a:ln>
        </p:spPr>
      </p:sp>
      <p:sp>
        <p:nvSpPr>
          <p:cNvPr id="12" name="Shape 10"/>
          <p:cNvSpPr/>
          <p:nvPr/>
        </p:nvSpPr>
        <p:spPr>
          <a:xfrm>
            <a:off x="4160520" y="2304288"/>
            <a:ext cx="320040" cy="320040"/>
          </a:xfrm>
          <a:prstGeom prst="ellipse">
            <a:avLst/>
          </a:prstGeom>
          <a:solidFill>
            <a:srgbClr val="028090"/>
          </a:solidFill>
          <a:ln w="12700">
            <a:solidFill>
              <a:srgbClr val="028090"/>
            </a:solidFill>
            <a:prstDash val="solid"/>
          </a:ln>
        </p:spPr>
      </p:sp>
      <p:sp>
        <p:nvSpPr>
          <p:cNvPr id="13" name="Text 11"/>
          <p:cNvSpPr/>
          <p:nvPr/>
        </p:nvSpPr>
        <p:spPr>
          <a:xfrm>
            <a:off x="4617720" y="2258568"/>
            <a:ext cx="4114800" cy="658368"/>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The pipeline eliminates hallucinations by grounding every answer in retrieved, verified context.</a:t>
            </a:r>
            <a:endParaRPr lang="en-US" sz="1150" dirty="0"/>
          </a:p>
        </p:txBody>
      </p:sp>
      <p:sp>
        <p:nvSpPr>
          <p:cNvPr id="14" name="Shape 12"/>
          <p:cNvSpPr/>
          <p:nvPr/>
        </p:nvSpPr>
        <p:spPr>
          <a:xfrm>
            <a:off x="4114800" y="3063240"/>
            <a:ext cx="4709160" cy="749808"/>
          </a:xfrm>
          <a:prstGeom prst="rect">
            <a:avLst/>
          </a:prstGeom>
          <a:solidFill>
            <a:srgbClr val="0F172A"/>
          </a:solidFill>
          <a:ln w="12700">
            <a:solidFill>
              <a:srgbClr val="1E3A5F"/>
            </a:solidFill>
            <a:prstDash val="solid"/>
          </a:ln>
        </p:spPr>
      </p:sp>
      <p:sp>
        <p:nvSpPr>
          <p:cNvPr id="15" name="Shape 13"/>
          <p:cNvSpPr/>
          <p:nvPr/>
        </p:nvSpPr>
        <p:spPr>
          <a:xfrm>
            <a:off x="4160520" y="3172968"/>
            <a:ext cx="320040" cy="320040"/>
          </a:xfrm>
          <a:prstGeom prst="ellipse">
            <a:avLst/>
          </a:prstGeom>
          <a:solidFill>
            <a:srgbClr val="028090"/>
          </a:solidFill>
          <a:ln w="12700">
            <a:solidFill>
              <a:srgbClr val="028090"/>
            </a:solidFill>
            <a:prstDash val="solid"/>
          </a:ln>
        </p:spPr>
      </p:sp>
      <p:sp>
        <p:nvSpPr>
          <p:cNvPr id="16" name="Text 14"/>
          <p:cNvSpPr/>
          <p:nvPr/>
        </p:nvSpPr>
        <p:spPr>
          <a:xfrm>
            <a:off x="4617720" y="3127248"/>
            <a:ext cx="4114800" cy="658368"/>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Highly scalable: new documents integrate without LLM retraining.</a:t>
            </a:r>
            <a:endParaRPr lang="en-US" sz="1150" dirty="0"/>
          </a:p>
        </p:txBody>
      </p:sp>
      <p:sp>
        <p:nvSpPr>
          <p:cNvPr id="17" name="Shape 15"/>
          <p:cNvSpPr/>
          <p:nvPr/>
        </p:nvSpPr>
        <p:spPr>
          <a:xfrm>
            <a:off x="4114800" y="3931920"/>
            <a:ext cx="4709160" cy="749808"/>
          </a:xfrm>
          <a:prstGeom prst="rect">
            <a:avLst/>
          </a:prstGeom>
          <a:solidFill>
            <a:srgbClr val="0F172A"/>
          </a:solidFill>
          <a:ln w="12700">
            <a:solidFill>
              <a:srgbClr val="1E3A5F"/>
            </a:solidFill>
            <a:prstDash val="solid"/>
          </a:ln>
        </p:spPr>
      </p:sp>
      <p:sp>
        <p:nvSpPr>
          <p:cNvPr id="18" name="Shape 16"/>
          <p:cNvSpPr/>
          <p:nvPr/>
        </p:nvSpPr>
        <p:spPr>
          <a:xfrm>
            <a:off x="4160520" y="4041648"/>
            <a:ext cx="320040" cy="320040"/>
          </a:xfrm>
          <a:prstGeom prst="ellipse">
            <a:avLst/>
          </a:prstGeom>
          <a:solidFill>
            <a:srgbClr val="028090"/>
          </a:solidFill>
          <a:ln w="12700">
            <a:solidFill>
              <a:srgbClr val="028090"/>
            </a:solidFill>
            <a:prstDash val="solid"/>
          </a:ln>
        </p:spPr>
      </p:sp>
      <p:sp>
        <p:nvSpPr>
          <p:cNvPr id="19" name="Text 17"/>
          <p:cNvSpPr/>
          <p:nvPr/>
        </p:nvSpPr>
        <p:spPr>
          <a:xfrm>
            <a:off x="4617720" y="3995928"/>
            <a:ext cx="4114800" cy="658368"/>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Blueprint applicable across any enterprise domain with unstructured knowledge bases.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Retail Query System using RAG and SQL</dc:title>
  <dc:subject>PptxGenJS Presentation</dc:subject>
  <dc:creator>PptxGenJS</dc:creator>
  <cp:lastModifiedBy>PptxGenJS</cp:lastModifiedBy>
  <cp:revision>1</cp:revision>
  <dcterms:created xsi:type="dcterms:W3CDTF">2026-05-05T17:47:15Z</dcterms:created>
  <dcterms:modified xsi:type="dcterms:W3CDTF">2026-05-05T17:47:15Z</dcterms:modified>
</cp:coreProperties>
</file>